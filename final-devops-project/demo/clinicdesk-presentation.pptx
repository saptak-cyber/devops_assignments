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05f030-0e13-252c-83cd-f2d6908aef57}">
          <p14:sldIdLst>
            <p14:sldId id="256"/>
            <p14:sldId id="257"/>
          </p14:sldIdLst>
        </p14:section>
        <p14:section name="Architecture" id="{5a81896d-4411-c515-72ff-69538a40e165}">
          <p14:sldIdLst>
            <p14:sldId id="258"/>
            <p14:sldId id="259"/>
          </p14:sldIdLst>
        </p14:section>
        <p14:section name="Build and test" id="{c315bac1-8bbf-a203-9a8c-1a450d624f50}">
          <p14:sldIdLst>
            <p14:sldId id="260"/>
            <p14:sldId id="261"/>
          </p14:sldIdLst>
        </p14:section>
        <p14:section name="Delivery" id="{85c426f2-5919-cb4c-5f5e-faf39d27dd8e}">
          <p14:sldIdLst>
            <p14:sldId id="262"/>
            <p14:sldId id="263"/>
          </p14:sldIdLst>
        </p14:section>
        <p14:section name="Infrastructure" id="{9ea48ed6-b6ca-8b85-5f9e-4f38fcf97583}">
          <p14:sldIdLst>
            <p14:sldId id="264"/>
            <p14:sldId id="265"/>
          </p14:sldIdLst>
        </p14:section>
        <p14:section name="Operations" id="{9762e8f5-9482-6fb9-06a5-9d908acb6b31}">
          <p14:sldIdLst>
            <p14:sldId id="266"/>
            <p14:sldId id="267"/>
          </p14:sldIdLst>
        </p14:section>
        <p14:section name="Wrap-up" id="{cac68f10-336a-12c6-6a25-9454d8cd61b6}">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ClinicDesk is my own application, a front-desk system for a small clinic, and I took it all the way from source code to a production-style deployment on AWS EKS with a security-gated CI/CD pipeline and GitOps.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my own, not the TaskBoard reference. Three related tables (doctors, patients, appointments), booking rules with overlap detection, and a timezone-aware stats endpoint. Point at the day board: columns are doctors, colours are visit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version is pinned in the repo. The frontend and backend run as non-root users; PostgreSQL runs as a StatefulSet with an EBS volume on 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A push triggers GitHub Actions: tests, five kinds of security scan, image build, a security gate, then images are pushed to GHCR tagged with the commit SHA. The last job commits the new tag into gitops/values-eks.yaml. Argo CD in the cluster sees that commit and syncs the Helm chart. Terraform built the VPC and EKS cluster. Users come in through ingress-nginx on an AWS NLB: slash goes to the frontend, /api to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run against SQLite in memory through conftest.py, so they never touch the production database. They cover doctors, patients, appointments including the clash rule, stats, health and metrics. If any test fails, the pipeline stops before anything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Dockerfiles are multi-stage and both images run as non-root users; the pipeline fails if an image would run as root. The 44 to 0 story is the clearest security win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jobs. Tests come first and any failure stops the run. Scanners write reports; the security gate reads all nine and blocks the push if any policy fails. Only the exact image tarballs that were scanned get pushed to GHCR, tagged with the commit SHA. Job 9 proves the chart installs on a throwaway kind cluster; job 10 commits the new tag for Argo 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explain the Trivy result for M6. Trivy scanned the operating-system packages and language dependencies in both images; HIGH and CRITICAL are configured to fail. The final scan was clean. Earlier, the Debian base had 44 HIGH CVEs with no fix available, which is why I switched to Alpine.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terraform plan in the demo. It uses the community VPC and EKS modules. One NAT gateway keeps cost down for a classroom; production would use one per zone. Everything is destroyed after the demo, and the AWS CLI sweep shows nothing billable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kubectl get pods, svc, ingress in the clinicdesk namespace, and helm list. Probes are split: /health for liveness never touches the database, /ready for readiness does, so a database outage takes pods out of rotation without restart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commit, pipeline, deployment-update loop the rubric asks for. Show the Argo CD app, the revision it is on, then push a small change and watch the revision and the image tags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kube-prometheus-stack installs Prometheus and Grafana. The dashboard is provisioned from a ConfigMap. During the load test the request rate climbs to about 75 requests per second and the HPA scales the backend from 2 to 5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or three of these to talk about. Each one came from something that actually went wrong or nearly went wrong on the real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from the slides to the terminal and browser for the live walkthrough, in the order: codebase, CI/CD, Terraform, Argo CD, Kubernetes, Prometheus,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669280" cy="21945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640080" y="4206240"/>
            <a:ext cx="5486400" cy="109728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669280" cy="9144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ClinicDesk  ·  Session 21 DevSecOps capstone  ·  Saptak Banerjee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tile"/>
          <p:cNvSpPr/>
          <p:nvPr/>
        </p:nvSpPr>
        <p:spPr>
          <a:xfrm>
            <a:off x="640080" y="822960"/>
            <a:ext cx="548640" cy="548640"/>
          </a:xfrm>
          <a:prstGeom prst="roundRect">
            <a:avLst>
              <a:gd name="adj" fmla="val 20000"/>
            </a:avLst>
          </a:prstGeom>
          <a:solidFill>
            <a:schemeClr val="accent1"/>
          </a:solidFill>
          <a:ln/>
        </p:spPr>
      </p:sp>
      <p:pic>
        <p:nvPicPr>
          <p:cNvPr id="3" name="FaPlus" descr="preencoded.png">    </p:cNvPr>
          <p:cNvPicPr>
            <a:picLocks noChangeAspect="1"/>
          </p:cNvPicPr>
          <p:nvPr/>
        </p:nvPicPr>
        <p:blipFill>
          <a:blip r:embed="rId1"/>
          <a:stretch>
            <a:fillRect/>
          </a:stretch>
        </p:blipFill>
        <p:spPr>
          <a:xfrm>
            <a:off x="760781" y="943661"/>
            <a:ext cx="307238" cy="307238"/>
          </a:xfrm>
          <a:prstGeom prst="rect">
            <a:avLst/>
          </a:prstGeom>
        </p:spPr>
      </p:pic>
      <p:sp>
        <p:nvSpPr>
          <p:cNvPr id="4" name="Text 1"/>
          <p:cNvSpPr txBox="1"/>
          <p:nvPr/>
        </p:nvSpPr>
        <p:spPr>
          <a:xfrm>
            <a:off x="1325880" y="822960"/>
            <a:ext cx="3657600" cy="548640"/>
          </a:xfrm>
          <a:prstGeom prst="rect">
            <a:avLst/>
          </a:prstGeom>
          <a:noFill/>
          <a:ln/>
        </p:spPr>
        <p:txBody>
          <a:bodyPr wrap="square" lIns="0" tIns="0" rIns="0" bIns="0" rtlCol="0" anchor="ctr"/>
          <a:lstStyle/>
          <a:p>
            <a:pPr indent="0" marL="0">
              <a:buNone/>
            </a:pPr>
            <a:r>
              <a:rPr lang="en-US" sz="2200" b="1" dirty="0">
                <a:solidFill>
                  <a:schemeClr val="bg1"/>
                </a:solidFill>
              </a:rPr>
              <a:t>ClinicDesk</a:t>
            </a:r>
            <a:endParaRPr lang="en-US" sz="2200" dirty="0"/>
          </a:p>
        </p:txBody>
      </p:sp>
      <p:sp>
        <p:nvSpPr>
          <p:cNvPr id="5" name="Text 0"/>
          <p:cNvSpPr/>
          <p:nvPr>
            <p:ph idx="100" type="title" hasCustomPrompt="1"/>
          </p:nvPr>
        </p:nvSpPr>
        <p:spPr>
          <a:xfrm>
            <a:off x="640080" y="1828800"/>
            <a:ext cx="5669280" cy="2194560"/>
          </a:xfrm>
          <a:prstGeom prst="rect">
            <a:avLst/>
          </a:prstGeom>
          <a:noFill/>
          <a:ln/>
        </p:spPr>
        <p:txBody>
          <a:bodyPr wrap="square" lIns="0" tIns="0" rIns="0" bIns="0" rtlCol="0" anchor="t"/>
          <a:lstStyle/>
          <a:p>
            <a:pPr algn="l" indent="0" marL="0">
              <a:buNone/>
            </a:pPr>
            <a:r>
              <a:rPr lang="en-US" sz="3400" b="1" dirty="0">
                <a:solidFill>
                  <a:schemeClr val="bg1"/>
                </a:solidFill>
              </a:rPr>
              <a:t>From commit to cluster: shipping a clinic front-desk app with DevSecOps</a:t>
            </a:r>
            <a:endParaRPr lang="en-US" sz="3400" dirty="0"/>
          </a:p>
        </p:txBody>
      </p:sp>
      <p:sp>
        <p:nvSpPr>
          <p:cNvPr id="6" name="Text 0"/>
          <p:cNvSpPr/>
          <p:nvPr>
            <p:ph idx="101" type="body" hasCustomPrompt="1"/>
          </p:nvPr>
        </p:nvSpPr>
        <p:spPr>
          <a:xfrm>
            <a:off x="640080" y="4206240"/>
            <a:ext cx="5486400" cy="1097280"/>
          </a:xfrm>
          <a:prstGeom prst="rect">
            <a:avLst/>
          </a:prstGeom>
          <a:noFill/>
          <a:ln/>
        </p:spPr>
        <p:txBody>
          <a:bodyPr wrap="square" lIns="0" tIns="0" rIns="0" bIns="0" rtlCol="0" anchor="t"/>
          <a:lstStyle/>
          <a:p>
            <a:pPr algn="l" indent="0" marL="0">
              <a:buNone/>
            </a:pPr>
            <a:r>
              <a:rPr lang="en-US" sz="1600" dirty="0">
                <a:solidFill>
                  <a:schemeClr val="bg2"/>
                </a:solidFill>
              </a:rPr>
              <a:t>Session 21 final capstone  ·  SST DevOps &amp; Cloud [SWE]</a:t>
            </a:r>
            <a:endParaRPr lang="en-US" sz="1600" dirty="0"/>
          </a:p>
          <a:p>
            <a:pPr algn="l" indent="0" marL="0">
              <a:buNone/>
            </a:pPr>
            <a:r>
              <a:rPr lang="en-US" sz="1600" dirty="0">
                <a:solidFill>
                  <a:schemeClr val="bg2"/>
                </a:solidFill>
              </a:rPr>
              <a:t>Saptak Banerjee  ·  October 2026</a:t>
            </a:r>
            <a:endParaRPr lang="en-US" sz="1600" dirty="0"/>
          </a:p>
        </p:txBody>
      </p:sp>
      <p:sp>
        <p:nvSpPr>
          <p:cNvPr id="7" name="ClinicDesk day board screenshot frame"/>
          <p:cNvSpPr/>
          <p:nvPr/>
        </p:nvSpPr>
        <p:spPr>
          <a:xfrm>
            <a:off x="6675120" y="1417320"/>
            <a:ext cx="4937760" cy="3086100"/>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8" name="ClinicDesk day board screenshot" descr="ClinicDesk day board screenshot">    </p:cNvPr>
          <p:cNvPicPr>
            <a:picLocks noChangeAspect="1"/>
          </p:cNvPicPr>
          <p:nvPr/>
        </p:nvPicPr>
        <p:blipFill>
          <a:blip r:embed="rId2"/>
          <a:stretch>
            <a:fillRect/>
          </a:stretch>
        </p:blipFill>
        <p:spPr>
          <a:xfrm>
            <a:off x="6675120" y="1417320"/>
            <a:ext cx="4937760" cy="3086100"/>
          </a:xfrm>
          <a:prstGeom prst="rect">
            <a:avLst/>
          </a:prstGeom>
        </p:spPr>
      </p:pic>
      <p:sp>
        <p:nvSpPr>
          <p:cNvPr id="9" name="Text 5"/>
          <p:cNvSpPr txBox="1"/>
          <p:nvPr/>
        </p:nvSpPr>
        <p:spPr>
          <a:xfrm>
            <a:off x="6675120" y="4709160"/>
            <a:ext cx="4937760" cy="731520"/>
          </a:xfrm>
          <a:prstGeom prst="rect">
            <a:avLst/>
          </a:prstGeom>
          <a:noFill/>
          <a:ln/>
        </p:spPr>
        <p:txBody>
          <a:bodyPr wrap="square" lIns="0" tIns="0" rIns="0" bIns="0" rtlCol="0" anchor="t"/>
          <a:lstStyle/>
          <a:p>
            <a:pPr indent="0" marL="0">
              <a:buNone/>
            </a:pPr>
            <a:r>
              <a:rPr lang="en-US" sz="1200" dirty="0">
                <a:solidFill>
                  <a:schemeClr val="accent5"/>
                </a:solidFill>
              </a:rPr>
              <a:t>FastAPI · React · PostgreSQL · Docker · GitHub Actions · Trivy · Terraform · EKS · Helm · Argo CD · Prometheus · Grafana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ClinicDesk runs a clinic's whole day on one board</a:t>
            </a:r>
            <a:endParaRPr lang="en-US" sz="3200" dirty="0"/>
          </a:p>
        </p:txBody>
      </p:sp>
      <p:sp>
        <p:nvSpPr>
          <p:cNvPr id="3" name="Day board frame"/>
          <p:cNvSpPr/>
          <p:nvPr/>
        </p:nvSpPr>
        <p:spPr>
          <a:xfrm>
            <a:off x="548640" y="1371600"/>
            <a:ext cx="6400800" cy="4000500"/>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4" name="Day board" descr="Day board">    </p:cNvPr>
          <p:cNvPicPr>
            <a:picLocks noChangeAspect="1"/>
          </p:cNvPicPr>
          <p:nvPr/>
        </p:nvPicPr>
        <p:blipFill>
          <a:blip r:embed="rId1"/>
          <a:stretch>
            <a:fillRect/>
          </a:stretch>
        </p:blipFill>
        <p:spPr>
          <a:xfrm>
            <a:off x="548640" y="1371600"/>
            <a:ext cx="6400800" cy="4000500"/>
          </a:xfrm>
          <a:prstGeom prst="rect">
            <a:avLst/>
          </a:prstGeom>
        </p:spPr>
      </p:pic>
      <p:sp>
        <p:nvSpPr>
          <p:cNvPr id="5" name="Text 2"/>
          <p:cNvSpPr txBox="1"/>
          <p:nvPr/>
        </p:nvSpPr>
        <p:spPr>
          <a:xfrm>
            <a:off x="548640" y="5486400"/>
            <a:ext cx="6400800" cy="320040"/>
          </a:xfrm>
          <a:prstGeom prst="rect">
            <a:avLst/>
          </a:prstGeom>
          <a:noFill/>
          <a:ln/>
        </p:spPr>
        <p:txBody>
          <a:bodyPr wrap="square" lIns="0" tIns="0" rIns="0" bIns="0" rtlCol="0" anchor="ctr"/>
          <a:lstStyle/>
          <a:p>
            <a:pPr indent="0" marL="0">
              <a:buNone/>
            </a:pPr>
            <a:r>
              <a:rPr lang="en-US" sz="1100" i="1" dirty="0">
                <a:solidFill>
                  <a:schemeClr val="accent5"/>
                </a:solidFill>
              </a:rPr>
              <a:t>Real UI served by nginx in front of the FastAPI backend</a:t>
            </a:r>
            <a:endParaRPr lang="en-US" sz="1100" dirty="0"/>
          </a:p>
        </p:txBody>
      </p:sp>
      <p:sp>
        <p:nvSpPr>
          <p:cNvPr id="6" name="icon tile"/>
          <p:cNvSpPr/>
          <p:nvPr/>
        </p:nvSpPr>
        <p:spPr>
          <a:xfrm>
            <a:off x="7406640" y="1371600"/>
            <a:ext cx="502920" cy="502920"/>
          </a:xfrm>
          <a:prstGeom prst="roundRect">
            <a:avLst>
              <a:gd name="adj" fmla="val 21818"/>
            </a:avLst>
          </a:prstGeom>
          <a:solidFill>
            <a:schemeClr val="accent1"/>
          </a:solidFill>
          <a:ln/>
        </p:spPr>
      </p:sp>
      <p:pic>
        <p:nvPicPr>
          <p:cNvPr id="7" name="FaColumns" descr="preencoded.png">    </p:cNvPr>
          <p:cNvPicPr>
            <a:picLocks noChangeAspect="1"/>
          </p:cNvPicPr>
          <p:nvPr/>
        </p:nvPicPr>
        <p:blipFill>
          <a:blip r:embed="rId2"/>
          <a:stretch>
            <a:fillRect/>
          </a:stretch>
        </p:blipFill>
        <p:spPr>
          <a:xfrm>
            <a:off x="7517282" y="1482242"/>
            <a:ext cx="281635" cy="281635"/>
          </a:xfrm>
          <a:prstGeom prst="rect">
            <a:avLst/>
          </a:prstGeom>
        </p:spPr>
      </p:pic>
      <p:sp>
        <p:nvSpPr>
          <p:cNvPr id="8" name="Text 4"/>
          <p:cNvSpPr txBox="1"/>
          <p:nvPr/>
        </p:nvSpPr>
        <p:spPr>
          <a:xfrm>
            <a:off x="8092440" y="1325880"/>
            <a:ext cx="3520440" cy="1005840"/>
          </a:xfrm>
          <a:prstGeom prst="rect">
            <a:avLst/>
          </a:prstGeom>
          <a:noFill/>
          <a:ln/>
        </p:spPr>
        <p:txBody>
          <a:bodyPr wrap="square" lIns="0" tIns="0" rIns="0" bIns="0" rtlCol="0" anchor="t"/>
          <a:lstStyle/>
          <a:p>
            <a:pPr indent="0" marL="0">
              <a:buNone/>
            </a:pPr>
            <a:r>
              <a:rPr lang="en-US" sz="1600" b="1" dirty="0">
                <a:solidFill>
                  <a:schemeClr val="tx1"/>
                </a:solidFill>
              </a:rPr>
              <a:t>Day board</a:t>
            </a:r>
            <a:endParaRPr lang="en-US" sz="1600" dirty="0"/>
          </a:p>
          <a:p>
            <a:pPr indent="0" marL="0">
              <a:buNone/>
            </a:pPr>
            <a:r>
              <a:rPr lang="en-US" sz="1400" dirty="0">
                <a:solidFill>
                  <a:schemeClr val="tx1"/>
                </a:solidFill>
              </a:rPr>
              <a:t>One column per doctor on a time grid; colour shows each visit's state.</a:t>
            </a:r>
            <a:endParaRPr lang="en-US" sz="1600" dirty="0"/>
          </a:p>
        </p:txBody>
      </p:sp>
      <p:sp>
        <p:nvSpPr>
          <p:cNvPr id="9" name="icon tile"/>
          <p:cNvSpPr/>
          <p:nvPr/>
        </p:nvSpPr>
        <p:spPr>
          <a:xfrm>
            <a:off x="7406640" y="2468880"/>
            <a:ext cx="502920" cy="502920"/>
          </a:xfrm>
          <a:prstGeom prst="roundRect">
            <a:avLst>
              <a:gd name="adj" fmla="val 21818"/>
            </a:avLst>
          </a:prstGeom>
          <a:solidFill>
            <a:schemeClr val="accent1"/>
          </a:solidFill>
          <a:ln/>
        </p:spPr>
      </p:sp>
      <p:pic>
        <p:nvPicPr>
          <p:cNvPr id="10" name="FaCalendarPlus" descr="preencoded.png">    </p:cNvPr>
          <p:cNvPicPr>
            <a:picLocks noChangeAspect="1"/>
          </p:cNvPicPr>
          <p:nvPr/>
        </p:nvPicPr>
        <p:blipFill>
          <a:blip r:embed="rId3"/>
          <a:stretch>
            <a:fillRect/>
          </a:stretch>
        </p:blipFill>
        <p:spPr>
          <a:xfrm>
            <a:off x="7517282" y="2579522"/>
            <a:ext cx="281635" cy="281635"/>
          </a:xfrm>
          <a:prstGeom prst="rect">
            <a:avLst/>
          </a:prstGeom>
        </p:spPr>
      </p:pic>
      <p:sp>
        <p:nvSpPr>
          <p:cNvPr id="11" name="Text 6"/>
          <p:cNvSpPr txBox="1"/>
          <p:nvPr/>
        </p:nvSpPr>
        <p:spPr>
          <a:xfrm>
            <a:off x="8092440" y="2423160"/>
            <a:ext cx="3520440" cy="1005840"/>
          </a:xfrm>
          <a:prstGeom prst="rect">
            <a:avLst/>
          </a:prstGeom>
          <a:noFill/>
          <a:ln/>
        </p:spPr>
        <p:txBody>
          <a:bodyPr wrap="square" lIns="0" tIns="0" rIns="0" bIns="0" rtlCol="0" anchor="t"/>
          <a:lstStyle/>
          <a:p>
            <a:pPr indent="0" marL="0">
              <a:buNone/>
            </a:pPr>
            <a:r>
              <a:rPr lang="en-US" sz="1600" b="1" dirty="0">
                <a:solidFill>
                  <a:schemeClr val="tx1"/>
                </a:solidFill>
              </a:rPr>
              <a:t>Safe booking</a:t>
            </a:r>
            <a:endParaRPr lang="en-US" sz="1600" dirty="0"/>
          </a:p>
          <a:p>
            <a:pPr indent="0" marL="0">
              <a:buNone/>
            </a:pPr>
            <a:r>
              <a:rPr lang="en-US" sz="1400" dirty="0">
                <a:solidFill>
                  <a:schemeClr val="tx1"/>
                </a:solidFill>
              </a:rPr>
              <a:t>New or returning patients. The API returns 409 when a doctor would be double-booked.</a:t>
            </a:r>
            <a:endParaRPr lang="en-US" sz="1600" dirty="0"/>
          </a:p>
        </p:txBody>
      </p:sp>
      <p:sp>
        <p:nvSpPr>
          <p:cNvPr id="12" name="icon tile"/>
          <p:cNvSpPr/>
          <p:nvPr/>
        </p:nvSpPr>
        <p:spPr>
          <a:xfrm>
            <a:off x="7406640" y="3566160"/>
            <a:ext cx="502920" cy="502920"/>
          </a:xfrm>
          <a:prstGeom prst="roundRect">
            <a:avLst>
              <a:gd name="adj" fmla="val 21818"/>
            </a:avLst>
          </a:prstGeom>
          <a:solidFill>
            <a:schemeClr val="accent1"/>
          </a:solidFill>
          <a:ln/>
        </p:spPr>
      </p:sp>
      <p:pic>
        <p:nvPicPr>
          <p:cNvPr id="13" name="FaUserCheck" descr="preencoded.png">    </p:cNvPr>
          <p:cNvPicPr>
            <a:picLocks noChangeAspect="1"/>
          </p:cNvPicPr>
          <p:nvPr/>
        </p:nvPicPr>
        <p:blipFill>
          <a:blip r:embed="rId4"/>
          <a:stretch>
            <a:fillRect/>
          </a:stretch>
        </p:blipFill>
        <p:spPr>
          <a:xfrm>
            <a:off x="7517282" y="3676802"/>
            <a:ext cx="281635" cy="281635"/>
          </a:xfrm>
          <a:prstGeom prst="rect">
            <a:avLst/>
          </a:prstGeom>
        </p:spPr>
      </p:pic>
      <p:sp>
        <p:nvSpPr>
          <p:cNvPr id="14" name="Text 8"/>
          <p:cNvSpPr txBox="1"/>
          <p:nvPr/>
        </p:nvSpPr>
        <p:spPr>
          <a:xfrm>
            <a:off x="8092440" y="3520440"/>
            <a:ext cx="3520440" cy="1005840"/>
          </a:xfrm>
          <a:prstGeom prst="rect">
            <a:avLst/>
          </a:prstGeom>
          <a:noFill/>
          <a:ln/>
        </p:spPr>
        <p:txBody>
          <a:bodyPr wrap="square" lIns="0" tIns="0" rIns="0" bIns="0" rtlCol="0" anchor="t"/>
          <a:lstStyle/>
          <a:p>
            <a:pPr indent="0" marL="0">
              <a:buNone/>
            </a:pPr>
            <a:r>
              <a:rPr lang="en-US" sz="1600" b="1" dirty="0">
                <a:solidFill>
                  <a:schemeClr val="tx1"/>
                </a:solidFill>
              </a:rPr>
              <a:t>Visit flow</a:t>
            </a:r>
            <a:endParaRPr lang="en-US" sz="1600" dirty="0"/>
          </a:p>
          <a:p>
            <a:pPr indent="0" marL="0">
              <a:buNone/>
            </a:pPr>
            <a:r>
              <a:rPr lang="en-US" sz="1400" dirty="0">
                <a:solidFill>
                  <a:schemeClr val="tx1"/>
                </a:solidFill>
              </a:rPr>
              <a:t>Check in, mark seen or did-not-arrive, reschedule, cancel, add notes.</a:t>
            </a:r>
            <a:endParaRPr lang="en-US" sz="1600" dirty="0"/>
          </a:p>
        </p:txBody>
      </p:sp>
      <p:sp>
        <p:nvSpPr>
          <p:cNvPr id="15" name="icon tile"/>
          <p:cNvSpPr/>
          <p:nvPr/>
        </p:nvSpPr>
        <p:spPr>
          <a:xfrm>
            <a:off x="7406640" y="4663440"/>
            <a:ext cx="502920" cy="502920"/>
          </a:xfrm>
          <a:prstGeom prst="roundRect">
            <a:avLst>
              <a:gd name="adj" fmla="val 21818"/>
            </a:avLst>
          </a:prstGeom>
          <a:solidFill>
            <a:schemeClr val="accent1"/>
          </a:solidFill>
          <a:ln/>
        </p:spPr>
      </p:sp>
      <p:pic>
        <p:nvPicPr>
          <p:cNvPr id="16" name="FaChartBar" descr="preencoded.png">    </p:cNvPr>
          <p:cNvPicPr>
            <a:picLocks noChangeAspect="1"/>
          </p:cNvPicPr>
          <p:nvPr/>
        </p:nvPicPr>
        <p:blipFill>
          <a:blip r:embed="rId5"/>
          <a:stretch>
            <a:fillRect/>
          </a:stretch>
        </p:blipFill>
        <p:spPr>
          <a:xfrm>
            <a:off x="7517282" y="4774082"/>
            <a:ext cx="281635" cy="281635"/>
          </a:xfrm>
          <a:prstGeom prst="rect">
            <a:avLst/>
          </a:prstGeom>
        </p:spPr>
      </p:pic>
      <p:sp>
        <p:nvSpPr>
          <p:cNvPr id="17" name="Text 10"/>
          <p:cNvSpPr txBox="1"/>
          <p:nvPr/>
        </p:nvSpPr>
        <p:spPr>
          <a:xfrm>
            <a:off x="8092440" y="4617720"/>
            <a:ext cx="3520440" cy="1005840"/>
          </a:xfrm>
          <a:prstGeom prst="rect">
            <a:avLst/>
          </a:prstGeom>
          <a:noFill/>
          <a:ln/>
        </p:spPr>
        <p:txBody>
          <a:bodyPr wrap="square" lIns="0" tIns="0" rIns="0" bIns="0" rtlCol="0" anchor="t"/>
          <a:lstStyle/>
          <a:p>
            <a:pPr indent="0" marL="0">
              <a:buNone/>
            </a:pPr>
            <a:r>
              <a:rPr lang="en-US" sz="1600" b="1" dirty="0">
                <a:solidFill>
                  <a:schemeClr val="tx1"/>
                </a:solidFill>
              </a:rPr>
              <a:t>Daily stats</a:t>
            </a:r>
            <a:endParaRPr lang="en-US" sz="1600" dirty="0"/>
          </a:p>
          <a:p>
            <a:pPr indent="0" marL="0">
              <a:buNone/>
            </a:pPr>
            <a:r>
              <a:rPr lang="en-US" sz="1400" dirty="0">
                <a:solidFill>
                  <a:schemeClr val="tx1"/>
                </a:solidFill>
              </a:rPr>
              <a:t>Totals per state, per-doctor load and the next 7 days of bookings.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stack, layer by layer</a:t>
            </a:r>
            <a:endParaRPr lang="en-US" sz="3200" dirty="0"/>
          </a:p>
        </p:txBody>
      </p:sp>
      <p:sp>
        <p:nvSpPr>
          <p:cNvPr id="3" name="Frontend card"/>
          <p:cNvSpPr/>
          <p:nvPr/>
        </p:nvSpPr>
        <p:spPr>
          <a:xfrm>
            <a:off x="548640" y="1371600"/>
            <a:ext cx="2583180" cy="2240280"/>
          </a:xfrm>
          <a:prstGeom prst="roundRect">
            <a:avLst>
              <a:gd name="adj" fmla="val 4082"/>
            </a:avLst>
          </a:prstGeom>
          <a:solidFill>
            <a:schemeClr val="bg2"/>
          </a:solidFill>
          <a:ln/>
        </p:spPr>
      </p:sp>
      <p:sp>
        <p:nvSpPr>
          <p:cNvPr id="4" name="icon tile"/>
          <p:cNvSpPr/>
          <p:nvPr/>
        </p:nvSpPr>
        <p:spPr>
          <a:xfrm>
            <a:off x="822960" y="1645920"/>
            <a:ext cx="548640" cy="548640"/>
          </a:xfrm>
          <a:prstGeom prst="roundRect">
            <a:avLst>
              <a:gd name="adj" fmla="val 20000"/>
            </a:avLst>
          </a:prstGeom>
          <a:solidFill>
            <a:schemeClr val="accent1"/>
          </a:solidFill>
          <a:ln/>
        </p:spPr>
      </p:sp>
      <p:pic>
        <p:nvPicPr>
          <p:cNvPr id="5" name="FaReact" descr="preencoded.png">    </p:cNvPr>
          <p:cNvPicPr>
            <a:picLocks noChangeAspect="1"/>
          </p:cNvPicPr>
          <p:nvPr/>
        </p:nvPicPr>
        <p:blipFill>
          <a:blip r:embed="rId1"/>
          <a:stretch>
            <a:fillRect/>
          </a:stretch>
        </p:blipFill>
        <p:spPr>
          <a:xfrm>
            <a:off x="943661" y="1766621"/>
            <a:ext cx="307238" cy="307238"/>
          </a:xfrm>
          <a:prstGeom prst="rect">
            <a:avLst/>
          </a:prstGeom>
        </p:spPr>
      </p:pic>
      <p:sp>
        <p:nvSpPr>
          <p:cNvPr id="6" name="Text 3"/>
          <p:cNvSpPr txBox="1"/>
          <p:nvPr/>
        </p:nvSpPr>
        <p:spPr>
          <a:xfrm>
            <a:off x="822960" y="2331720"/>
            <a:ext cx="2034540" cy="365760"/>
          </a:xfrm>
          <a:prstGeom prst="rect">
            <a:avLst/>
          </a:prstGeom>
          <a:noFill/>
          <a:ln/>
        </p:spPr>
        <p:txBody>
          <a:bodyPr wrap="square" lIns="0" tIns="0" rIns="0" bIns="0" rtlCol="0" anchor="ctr"/>
          <a:lstStyle/>
          <a:p>
            <a:pPr indent="0" marL="0">
              <a:buNone/>
            </a:pPr>
            <a:r>
              <a:rPr lang="en-US" sz="1600" b="1" dirty="0">
                <a:solidFill>
                  <a:schemeClr val="tx1"/>
                </a:solidFill>
              </a:rPr>
              <a:t>Frontend</a:t>
            </a:r>
            <a:endParaRPr lang="en-US" sz="1600" dirty="0"/>
          </a:p>
        </p:txBody>
      </p:sp>
      <p:sp>
        <p:nvSpPr>
          <p:cNvPr id="7" name="Text 4"/>
          <p:cNvSpPr txBox="1"/>
          <p:nvPr/>
        </p:nvSpPr>
        <p:spPr>
          <a:xfrm>
            <a:off x="822960" y="2697480"/>
            <a:ext cx="2034540" cy="822960"/>
          </a:xfrm>
          <a:prstGeom prst="rect">
            <a:avLst/>
          </a:prstGeom>
          <a:noFill/>
          <a:ln/>
        </p:spPr>
        <p:txBody>
          <a:bodyPr wrap="square" lIns="0" tIns="0" rIns="0" bIns="0" rtlCol="0" anchor="t"/>
          <a:lstStyle/>
          <a:p>
            <a:pPr indent="0" marL="0">
              <a:buNone/>
            </a:pPr>
            <a:r>
              <a:rPr lang="en-US" sz="1400" dirty="0">
                <a:solidFill>
                  <a:schemeClr val="tx1"/>
                </a:solidFill>
              </a:rPr>
              <a:t>React 19 + Vite 8, served by nginx-unprivileged on :8080</a:t>
            </a:r>
            <a:endParaRPr lang="en-US" sz="1400" dirty="0"/>
          </a:p>
        </p:txBody>
      </p:sp>
      <p:sp>
        <p:nvSpPr>
          <p:cNvPr id="8" name="Backend card"/>
          <p:cNvSpPr/>
          <p:nvPr/>
        </p:nvSpPr>
        <p:spPr>
          <a:xfrm>
            <a:off x="3406140" y="1371600"/>
            <a:ext cx="2583180" cy="2240280"/>
          </a:xfrm>
          <a:prstGeom prst="roundRect">
            <a:avLst>
              <a:gd name="adj" fmla="val 4082"/>
            </a:avLst>
          </a:prstGeom>
          <a:solidFill>
            <a:schemeClr val="bg2"/>
          </a:solidFill>
          <a:ln/>
        </p:spPr>
      </p:sp>
      <p:sp>
        <p:nvSpPr>
          <p:cNvPr id="9" name="icon tile"/>
          <p:cNvSpPr/>
          <p:nvPr/>
        </p:nvSpPr>
        <p:spPr>
          <a:xfrm>
            <a:off x="3680460" y="1645920"/>
            <a:ext cx="548640" cy="548640"/>
          </a:xfrm>
          <a:prstGeom prst="roundRect">
            <a:avLst>
              <a:gd name="adj" fmla="val 20000"/>
            </a:avLst>
          </a:prstGeom>
          <a:solidFill>
            <a:schemeClr val="accent1"/>
          </a:solidFill>
          <a:ln/>
        </p:spPr>
      </p:sp>
      <p:pic>
        <p:nvPicPr>
          <p:cNvPr id="10" name="FaPython" descr="preencoded.png">    </p:cNvPr>
          <p:cNvPicPr>
            <a:picLocks noChangeAspect="1"/>
          </p:cNvPicPr>
          <p:nvPr/>
        </p:nvPicPr>
        <p:blipFill>
          <a:blip r:embed="rId2"/>
          <a:stretch>
            <a:fillRect/>
          </a:stretch>
        </p:blipFill>
        <p:spPr>
          <a:xfrm>
            <a:off x="3801161" y="1766621"/>
            <a:ext cx="307238" cy="307238"/>
          </a:xfrm>
          <a:prstGeom prst="rect">
            <a:avLst/>
          </a:prstGeom>
        </p:spPr>
      </p:pic>
      <p:sp>
        <p:nvSpPr>
          <p:cNvPr id="11" name="Text 7"/>
          <p:cNvSpPr txBox="1"/>
          <p:nvPr/>
        </p:nvSpPr>
        <p:spPr>
          <a:xfrm>
            <a:off x="3680460" y="2331720"/>
            <a:ext cx="2034540" cy="365760"/>
          </a:xfrm>
          <a:prstGeom prst="rect">
            <a:avLst/>
          </a:prstGeom>
          <a:noFill/>
          <a:ln/>
        </p:spPr>
        <p:txBody>
          <a:bodyPr wrap="square" lIns="0" tIns="0" rIns="0" bIns="0" rtlCol="0" anchor="ctr"/>
          <a:lstStyle/>
          <a:p>
            <a:pPr indent="0" marL="0">
              <a:buNone/>
            </a:pPr>
            <a:r>
              <a:rPr lang="en-US" sz="1600" b="1" dirty="0">
                <a:solidFill>
                  <a:schemeClr val="tx1"/>
                </a:solidFill>
              </a:rPr>
              <a:t>Backend</a:t>
            </a:r>
            <a:endParaRPr lang="en-US" sz="1600" dirty="0"/>
          </a:p>
        </p:txBody>
      </p:sp>
      <p:sp>
        <p:nvSpPr>
          <p:cNvPr id="12" name="Text 8"/>
          <p:cNvSpPr txBox="1"/>
          <p:nvPr/>
        </p:nvSpPr>
        <p:spPr>
          <a:xfrm>
            <a:off x="3680460" y="2697480"/>
            <a:ext cx="2034540" cy="822960"/>
          </a:xfrm>
          <a:prstGeom prst="rect">
            <a:avLst/>
          </a:prstGeom>
          <a:noFill/>
          <a:ln/>
        </p:spPr>
        <p:txBody>
          <a:bodyPr wrap="square" lIns="0" tIns="0" rIns="0" bIns="0" rtlCol="0" anchor="t"/>
          <a:lstStyle/>
          <a:p>
            <a:pPr indent="0" marL="0">
              <a:buNone/>
            </a:pPr>
            <a:r>
              <a:rPr lang="en-US" sz="1400" dirty="0">
                <a:solidFill>
                  <a:schemeClr val="tx1"/>
                </a:solidFill>
              </a:rPr>
              <a:t>FastAPI, Uvicorn, Pydantic; /health, /ready, /metrics</a:t>
            </a:r>
            <a:endParaRPr lang="en-US" sz="1400" dirty="0"/>
          </a:p>
        </p:txBody>
      </p:sp>
      <p:sp>
        <p:nvSpPr>
          <p:cNvPr id="13" name="Data card"/>
          <p:cNvSpPr/>
          <p:nvPr/>
        </p:nvSpPr>
        <p:spPr>
          <a:xfrm>
            <a:off x="6263640" y="1371600"/>
            <a:ext cx="2583180" cy="2240280"/>
          </a:xfrm>
          <a:prstGeom prst="roundRect">
            <a:avLst>
              <a:gd name="adj" fmla="val 4082"/>
            </a:avLst>
          </a:prstGeom>
          <a:solidFill>
            <a:schemeClr val="bg2"/>
          </a:solidFill>
          <a:ln/>
        </p:spPr>
      </p:sp>
      <p:sp>
        <p:nvSpPr>
          <p:cNvPr id="14" name="icon tile"/>
          <p:cNvSpPr/>
          <p:nvPr/>
        </p:nvSpPr>
        <p:spPr>
          <a:xfrm>
            <a:off x="6537960" y="1645920"/>
            <a:ext cx="548640" cy="548640"/>
          </a:xfrm>
          <a:prstGeom prst="roundRect">
            <a:avLst>
              <a:gd name="adj" fmla="val 20000"/>
            </a:avLst>
          </a:prstGeom>
          <a:solidFill>
            <a:schemeClr val="accent1"/>
          </a:solidFill>
          <a:ln/>
        </p:spPr>
      </p:sp>
      <p:pic>
        <p:nvPicPr>
          <p:cNvPr id="15" name="FaDatabase" descr="preencoded.png">    </p:cNvPr>
          <p:cNvPicPr>
            <a:picLocks noChangeAspect="1"/>
          </p:cNvPicPr>
          <p:nvPr/>
        </p:nvPicPr>
        <p:blipFill>
          <a:blip r:embed="rId3"/>
          <a:stretch>
            <a:fillRect/>
          </a:stretch>
        </p:blipFill>
        <p:spPr>
          <a:xfrm>
            <a:off x="6658661" y="1766621"/>
            <a:ext cx="307238" cy="307238"/>
          </a:xfrm>
          <a:prstGeom prst="rect">
            <a:avLst/>
          </a:prstGeom>
        </p:spPr>
      </p:pic>
      <p:sp>
        <p:nvSpPr>
          <p:cNvPr id="16" name="Text 11"/>
          <p:cNvSpPr txBox="1"/>
          <p:nvPr/>
        </p:nvSpPr>
        <p:spPr>
          <a:xfrm>
            <a:off x="6537960" y="2331720"/>
            <a:ext cx="2034540" cy="365760"/>
          </a:xfrm>
          <a:prstGeom prst="rect">
            <a:avLst/>
          </a:prstGeom>
          <a:noFill/>
          <a:ln/>
        </p:spPr>
        <p:txBody>
          <a:bodyPr wrap="square" lIns="0" tIns="0" rIns="0" bIns="0" rtlCol="0" anchor="ctr"/>
          <a:lstStyle/>
          <a:p>
            <a:pPr indent="0" marL="0">
              <a:buNone/>
            </a:pPr>
            <a:r>
              <a:rPr lang="en-US" sz="1600" b="1" dirty="0">
                <a:solidFill>
                  <a:schemeClr val="tx1"/>
                </a:solidFill>
              </a:rPr>
              <a:t>Data</a:t>
            </a:r>
            <a:endParaRPr lang="en-US" sz="1600" dirty="0"/>
          </a:p>
        </p:txBody>
      </p:sp>
      <p:sp>
        <p:nvSpPr>
          <p:cNvPr id="17" name="Text 12"/>
          <p:cNvSpPr txBox="1"/>
          <p:nvPr/>
        </p:nvSpPr>
        <p:spPr>
          <a:xfrm>
            <a:off x="6537960" y="2697480"/>
            <a:ext cx="2034540" cy="822960"/>
          </a:xfrm>
          <a:prstGeom prst="rect">
            <a:avLst/>
          </a:prstGeom>
          <a:noFill/>
          <a:ln/>
        </p:spPr>
        <p:txBody>
          <a:bodyPr wrap="square" lIns="0" tIns="0" rIns="0" bIns="0" rtlCol="0" anchor="t"/>
          <a:lstStyle/>
          <a:p>
            <a:pPr indent="0" marL="0">
              <a:buNone/>
            </a:pPr>
            <a:r>
              <a:rPr lang="en-US" sz="1400" dirty="0">
                <a:solidFill>
                  <a:schemeClr val="tx1"/>
                </a:solidFill>
              </a:rPr>
              <a:t>PostgreSQL 18, SQLAlchemy 2.1, Alembic migrations</a:t>
            </a:r>
            <a:endParaRPr lang="en-US" sz="1400" dirty="0"/>
          </a:p>
        </p:txBody>
      </p:sp>
      <p:sp>
        <p:nvSpPr>
          <p:cNvPr id="18" name="Testing card"/>
          <p:cNvSpPr/>
          <p:nvPr/>
        </p:nvSpPr>
        <p:spPr>
          <a:xfrm>
            <a:off x="9121140" y="1371600"/>
            <a:ext cx="2583180" cy="2240280"/>
          </a:xfrm>
          <a:prstGeom prst="roundRect">
            <a:avLst>
              <a:gd name="adj" fmla="val 4082"/>
            </a:avLst>
          </a:prstGeom>
          <a:solidFill>
            <a:schemeClr val="bg2"/>
          </a:solidFill>
          <a:ln/>
        </p:spPr>
      </p:sp>
      <p:sp>
        <p:nvSpPr>
          <p:cNvPr id="19" name="icon tile"/>
          <p:cNvSpPr/>
          <p:nvPr/>
        </p:nvSpPr>
        <p:spPr>
          <a:xfrm>
            <a:off x="9395460" y="1645920"/>
            <a:ext cx="548640" cy="548640"/>
          </a:xfrm>
          <a:prstGeom prst="roundRect">
            <a:avLst>
              <a:gd name="adj" fmla="val 20000"/>
            </a:avLst>
          </a:prstGeom>
          <a:solidFill>
            <a:schemeClr val="accent1"/>
          </a:solidFill>
          <a:ln/>
        </p:spPr>
      </p:sp>
      <p:pic>
        <p:nvPicPr>
          <p:cNvPr id="20" name="FaVial" descr="preencoded.png">    </p:cNvPr>
          <p:cNvPicPr>
            <a:picLocks noChangeAspect="1"/>
          </p:cNvPicPr>
          <p:nvPr/>
        </p:nvPicPr>
        <p:blipFill>
          <a:blip r:embed="rId4"/>
          <a:stretch>
            <a:fillRect/>
          </a:stretch>
        </p:blipFill>
        <p:spPr>
          <a:xfrm>
            <a:off x="9516161" y="1766621"/>
            <a:ext cx="307238" cy="307238"/>
          </a:xfrm>
          <a:prstGeom prst="rect">
            <a:avLst/>
          </a:prstGeom>
        </p:spPr>
      </p:pic>
      <p:sp>
        <p:nvSpPr>
          <p:cNvPr id="21" name="Text 15"/>
          <p:cNvSpPr txBox="1"/>
          <p:nvPr/>
        </p:nvSpPr>
        <p:spPr>
          <a:xfrm>
            <a:off x="9395460" y="2331720"/>
            <a:ext cx="2034540" cy="365760"/>
          </a:xfrm>
          <a:prstGeom prst="rect">
            <a:avLst/>
          </a:prstGeom>
          <a:noFill/>
          <a:ln/>
        </p:spPr>
        <p:txBody>
          <a:bodyPr wrap="square" lIns="0" tIns="0" rIns="0" bIns="0" rtlCol="0" anchor="ctr"/>
          <a:lstStyle/>
          <a:p>
            <a:pPr indent="0" marL="0">
              <a:buNone/>
            </a:pPr>
            <a:r>
              <a:rPr lang="en-US" sz="1600" b="1" dirty="0">
                <a:solidFill>
                  <a:schemeClr val="tx1"/>
                </a:solidFill>
              </a:rPr>
              <a:t>Testing</a:t>
            </a:r>
            <a:endParaRPr lang="en-US" sz="1600" dirty="0"/>
          </a:p>
        </p:txBody>
      </p:sp>
      <p:sp>
        <p:nvSpPr>
          <p:cNvPr id="22" name="Text 16"/>
          <p:cNvSpPr txBox="1"/>
          <p:nvPr/>
        </p:nvSpPr>
        <p:spPr>
          <a:xfrm>
            <a:off x="9395460" y="2697480"/>
            <a:ext cx="2034540" cy="822960"/>
          </a:xfrm>
          <a:prstGeom prst="rect">
            <a:avLst/>
          </a:prstGeom>
          <a:noFill/>
          <a:ln/>
        </p:spPr>
        <p:txBody>
          <a:bodyPr wrap="square" lIns="0" tIns="0" rIns="0" bIns="0" rtlCol="0" anchor="t"/>
          <a:lstStyle/>
          <a:p>
            <a:pPr indent="0" marL="0">
              <a:buNone/>
            </a:pPr>
            <a:r>
              <a:rPr lang="en-US" sz="1400" dirty="0">
                <a:solidFill>
                  <a:schemeClr val="tx1"/>
                </a:solidFill>
              </a:rPr>
              <a:t>pytest 9.1 with SQLite in memory, never the real DB</a:t>
            </a:r>
            <a:endParaRPr lang="en-US" sz="1400" dirty="0"/>
          </a:p>
        </p:txBody>
      </p:sp>
      <p:sp>
        <p:nvSpPr>
          <p:cNvPr id="23" name="Containers card"/>
          <p:cNvSpPr/>
          <p:nvPr/>
        </p:nvSpPr>
        <p:spPr>
          <a:xfrm>
            <a:off x="548640" y="3886200"/>
            <a:ext cx="2583180" cy="2240280"/>
          </a:xfrm>
          <a:prstGeom prst="roundRect">
            <a:avLst>
              <a:gd name="adj" fmla="val 4082"/>
            </a:avLst>
          </a:prstGeom>
          <a:solidFill>
            <a:schemeClr val="bg2"/>
          </a:solidFill>
          <a:ln/>
        </p:spPr>
      </p:sp>
      <p:sp>
        <p:nvSpPr>
          <p:cNvPr id="24" name="icon tile"/>
          <p:cNvSpPr/>
          <p:nvPr/>
        </p:nvSpPr>
        <p:spPr>
          <a:xfrm>
            <a:off x="822960" y="4160520"/>
            <a:ext cx="548640" cy="548640"/>
          </a:xfrm>
          <a:prstGeom prst="roundRect">
            <a:avLst>
              <a:gd name="adj" fmla="val 20000"/>
            </a:avLst>
          </a:prstGeom>
          <a:solidFill>
            <a:schemeClr val="accent1"/>
          </a:solidFill>
          <a:ln/>
        </p:spPr>
      </p:sp>
      <p:pic>
        <p:nvPicPr>
          <p:cNvPr id="25" name="FaDocker" descr="preencoded.png">    </p:cNvPr>
          <p:cNvPicPr>
            <a:picLocks noChangeAspect="1"/>
          </p:cNvPicPr>
          <p:nvPr/>
        </p:nvPicPr>
        <p:blipFill>
          <a:blip r:embed="rId5"/>
          <a:stretch>
            <a:fillRect/>
          </a:stretch>
        </p:blipFill>
        <p:spPr>
          <a:xfrm>
            <a:off x="943661" y="4281221"/>
            <a:ext cx="307238" cy="307238"/>
          </a:xfrm>
          <a:prstGeom prst="rect">
            <a:avLst/>
          </a:prstGeom>
        </p:spPr>
      </p:pic>
      <p:sp>
        <p:nvSpPr>
          <p:cNvPr id="26" name="Text 19"/>
          <p:cNvSpPr txBox="1"/>
          <p:nvPr/>
        </p:nvSpPr>
        <p:spPr>
          <a:xfrm>
            <a:off x="822960" y="4846320"/>
            <a:ext cx="2034540" cy="365760"/>
          </a:xfrm>
          <a:prstGeom prst="rect">
            <a:avLst/>
          </a:prstGeom>
          <a:noFill/>
          <a:ln/>
        </p:spPr>
        <p:txBody>
          <a:bodyPr wrap="square" lIns="0" tIns="0" rIns="0" bIns="0" rtlCol="0" anchor="ctr"/>
          <a:lstStyle/>
          <a:p>
            <a:pPr indent="0" marL="0">
              <a:buNone/>
            </a:pPr>
            <a:r>
              <a:rPr lang="en-US" sz="1600" b="1" dirty="0">
                <a:solidFill>
                  <a:schemeClr val="tx1"/>
                </a:solidFill>
              </a:rPr>
              <a:t>Containers</a:t>
            </a:r>
            <a:endParaRPr lang="en-US" sz="1600" dirty="0"/>
          </a:p>
        </p:txBody>
      </p:sp>
      <p:sp>
        <p:nvSpPr>
          <p:cNvPr id="27" name="Text 20"/>
          <p:cNvSpPr txBox="1"/>
          <p:nvPr/>
        </p:nvSpPr>
        <p:spPr>
          <a:xfrm>
            <a:off x="822960" y="5212080"/>
            <a:ext cx="2034540" cy="822960"/>
          </a:xfrm>
          <a:prstGeom prst="rect">
            <a:avLst/>
          </a:prstGeom>
          <a:noFill/>
          <a:ln/>
        </p:spPr>
        <p:txBody>
          <a:bodyPr wrap="square" lIns="0" tIns="0" rIns="0" bIns="0" rtlCol="0" anchor="t"/>
          <a:lstStyle/>
          <a:p>
            <a:pPr indent="0" marL="0">
              <a:buNone/>
            </a:pPr>
            <a:r>
              <a:rPr lang="en-US" sz="1400" dirty="0">
                <a:solidFill>
                  <a:schemeClr val="tx1"/>
                </a:solidFill>
              </a:rPr>
              <a:t>Multi-stage Alpine images, non-root, Docker Compose</a:t>
            </a:r>
            <a:endParaRPr lang="en-US" sz="1400" dirty="0"/>
          </a:p>
        </p:txBody>
      </p:sp>
      <p:sp>
        <p:nvSpPr>
          <p:cNvPr id="28" name="CI/CD + security card"/>
          <p:cNvSpPr/>
          <p:nvPr/>
        </p:nvSpPr>
        <p:spPr>
          <a:xfrm>
            <a:off x="3406140" y="3886200"/>
            <a:ext cx="2583180" cy="2240280"/>
          </a:xfrm>
          <a:prstGeom prst="roundRect">
            <a:avLst>
              <a:gd name="adj" fmla="val 4082"/>
            </a:avLst>
          </a:prstGeom>
          <a:solidFill>
            <a:schemeClr val="bg2"/>
          </a:solidFill>
          <a:ln/>
        </p:spPr>
      </p:sp>
      <p:sp>
        <p:nvSpPr>
          <p:cNvPr id="29" name="icon tile"/>
          <p:cNvSpPr/>
          <p:nvPr/>
        </p:nvSpPr>
        <p:spPr>
          <a:xfrm>
            <a:off x="3680460" y="4160520"/>
            <a:ext cx="548640" cy="548640"/>
          </a:xfrm>
          <a:prstGeom prst="roundRect">
            <a:avLst>
              <a:gd name="adj" fmla="val 20000"/>
            </a:avLst>
          </a:prstGeom>
          <a:solidFill>
            <a:schemeClr val="accent1"/>
          </a:solidFill>
          <a:ln/>
        </p:spPr>
      </p:sp>
      <p:pic>
        <p:nvPicPr>
          <p:cNvPr id="30" name="FaShieldAlt" descr="preencoded.png">    </p:cNvPr>
          <p:cNvPicPr>
            <a:picLocks noChangeAspect="1"/>
          </p:cNvPicPr>
          <p:nvPr/>
        </p:nvPicPr>
        <p:blipFill>
          <a:blip r:embed="rId6"/>
          <a:stretch>
            <a:fillRect/>
          </a:stretch>
        </p:blipFill>
        <p:spPr>
          <a:xfrm>
            <a:off x="3801161" y="4281221"/>
            <a:ext cx="307238" cy="307238"/>
          </a:xfrm>
          <a:prstGeom prst="rect">
            <a:avLst/>
          </a:prstGeom>
        </p:spPr>
      </p:pic>
      <p:sp>
        <p:nvSpPr>
          <p:cNvPr id="31" name="Text 23"/>
          <p:cNvSpPr txBox="1"/>
          <p:nvPr/>
        </p:nvSpPr>
        <p:spPr>
          <a:xfrm>
            <a:off x="3680460" y="4846320"/>
            <a:ext cx="2034540" cy="365760"/>
          </a:xfrm>
          <a:prstGeom prst="rect">
            <a:avLst/>
          </a:prstGeom>
          <a:noFill/>
          <a:ln/>
        </p:spPr>
        <p:txBody>
          <a:bodyPr wrap="square" lIns="0" tIns="0" rIns="0" bIns="0" rtlCol="0" anchor="ctr"/>
          <a:lstStyle/>
          <a:p>
            <a:pPr indent="0" marL="0">
              <a:buNone/>
            </a:pPr>
            <a:r>
              <a:rPr lang="en-US" sz="1600" b="1" dirty="0">
                <a:solidFill>
                  <a:schemeClr val="tx1"/>
                </a:solidFill>
              </a:rPr>
              <a:t>CI/CD + security</a:t>
            </a:r>
            <a:endParaRPr lang="en-US" sz="1600" dirty="0"/>
          </a:p>
        </p:txBody>
      </p:sp>
      <p:sp>
        <p:nvSpPr>
          <p:cNvPr id="32" name="Text 24"/>
          <p:cNvSpPr txBox="1"/>
          <p:nvPr/>
        </p:nvSpPr>
        <p:spPr>
          <a:xfrm>
            <a:off x="3680460" y="5212080"/>
            <a:ext cx="2034540" cy="822960"/>
          </a:xfrm>
          <a:prstGeom prst="rect">
            <a:avLst/>
          </a:prstGeom>
          <a:noFill/>
          <a:ln/>
        </p:spPr>
        <p:txBody>
          <a:bodyPr wrap="square" lIns="0" tIns="0" rIns="0" bIns="0" rtlCol="0" anchor="t"/>
          <a:lstStyle/>
          <a:p>
            <a:pPr indent="0" marL="0">
              <a:buNone/>
            </a:pPr>
            <a:r>
              <a:rPr lang="en-US" sz="1400" dirty="0">
                <a:solidFill>
                  <a:schemeClr val="tx1"/>
                </a:solidFill>
              </a:rPr>
              <a:t>GitHub Actions, Trivy, Bandit, Semgrep, pip-audit, gitleaks</a:t>
            </a:r>
            <a:endParaRPr lang="en-US" sz="1400" dirty="0"/>
          </a:p>
        </p:txBody>
      </p:sp>
      <p:sp>
        <p:nvSpPr>
          <p:cNvPr id="33" name="Infrastructure card"/>
          <p:cNvSpPr/>
          <p:nvPr/>
        </p:nvSpPr>
        <p:spPr>
          <a:xfrm>
            <a:off x="6263640" y="3886200"/>
            <a:ext cx="2583180" cy="2240280"/>
          </a:xfrm>
          <a:prstGeom prst="roundRect">
            <a:avLst>
              <a:gd name="adj" fmla="val 4082"/>
            </a:avLst>
          </a:prstGeom>
          <a:solidFill>
            <a:schemeClr val="bg2"/>
          </a:solidFill>
          <a:ln/>
        </p:spPr>
      </p:sp>
      <p:sp>
        <p:nvSpPr>
          <p:cNvPr id="34" name="icon tile"/>
          <p:cNvSpPr/>
          <p:nvPr/>
        </p:nvSpPr>
        <p:spPr>
          <a:xfrm>
            <a:off x="6537960" y="4160520"/>
            <a:ext cx="548640" cy="548640"/>
          </a:xfrm>
          <a:prstGeom prst="roundRect">
            <a:avLst>
              <a:gd name="adj" fmla="val 20000"/>
            </a:avLst>
          </a:prstGeom>
          <a:solidFill>
            <a:schemeClr val="accent1"/>
          </a:solidFill>
          <a:ln/>
        </p:spPr>
      </p:sp>
      <p:pic>
        <p:nvPicPr>
          <p:cNvPr id="35" name="FaAws" descr="preencoded.png">    </p:cNvPr>
          <p:cNvPicPr>
            <a:picLocks noChangeAspect="1"/>
          </p:cNvPicPr>
          <p:nvPr/>
        </p:nvPicPr>
        <p:blipFill>
          <a:blip r:embed="rId7"/>
          <a:stretch>
            <a:fillRect/>
          </a:stretch>
        </p:blipFill>
        <p:spPr>
          <a:xfrm>
            <a:off x="6658661" y="4281221"/>
            <a:ext cx="307238" cy="307238"/>
          </a:xfrm>
          <a:prstGeom prst="rect">
            <a:avLst/>
          </a:prstGeom>
        </p:spPr>
      </p:pic>
      <p:sp>
        <p:nvSpPr>
          <p:cNvPr id="36" name="Text 27"/>
          <p:cNvSpPr txBox="1"/>
          <p:nvPr/>
        </p:nvSpPr>
        <p:spPr>
          <a:xfrm>
            <a:off x="6537960" y="4846320"/>
            <a:ext cx="2034540" cy="365760"/>
          </a:xfrm>
          <a:prstGeom prst="rect">
            <a:avLst/>
          </a:prstGeom>
          <a:noFill/>
          <a:ln/>
        </p:spPr>
        <p:txBody>
          <a:bodyPr wrap="square" lIns="0" tIns="0" rIns="0" bIns="0" rtlCol="0" anchor="ctr"/>
          <a:lstStyle/>
          <a:p>
            <a:pPr indent="0" marL="0">
              <a:buNone/>
            </a:pPr>
            <a:r>
              <a:rPr lang="en-US" sz="1600" b="1" dirty="0">
                <a:solidFill>
                  <a:schemeClr val="tx1"/>
                </a:solidFill>
              </a:rPr>
              <a:t>Infrastructure</a:t>
            </a:r>
            <a:endParaRPr lang="en-US" sz="1600" dirty="0"/>
          </a:p>
        </p:txBody>
      </p:sp>
      <p:sp>
        <p:nvSpPr>
          <p:cNvPr id="37" name="Text 28"/>
          <p:cNvSpPr txBox="1"/>
          <p:nvPr/>
        </p:nvSpPr>
        <p:spPr>
          <a:xfrm>
            <a:off x="6537960" y="5212080"/>
            <a:ext cx="2034540" cy="822960"/>
          </a:xfrm>
          <a:prstGeom prst="rect">
            <a:avLst/>
          </a:prstGeom>
          <a:noFill/>
          <a:ln/>
        </p:spPr>
        <p:txBody>
          <a:bodyPr wrap="square" lIns="0" tIns="0" rIns="0" bIns="0" rtlCol="0" anchor="t"/>
          <a:lstStyle/>
          <a:p>
            <a:pPr indent="0" marL="0">
              <a:buNone/>
            </a:pPr>
            <a:r>
              <a:rPr lang="en-US" sz="1400" dirty="0">
                <a:solidFill>
                  <a:schemeClr val="tx1"/>
                </a:solidFill>
              </a:rPr>
              <a:t>Terraform: VPC, NAT, EKS 1.36 in ap-south-1</a:t>
            </a:r>
            <a:endParaRPr lang="en-US" sz="1400" dirty="0"/>
          </a:p>
        </p:txBody>
      </p:sp>
      <p:sp>
        <p:nvSpPr>
          <p:cNvPr id="38" name="Platform card"/>
          <p:cNvSpPr/>
          <p:nvPr/>
        </p:nvSpPr>
        <p:spPr>
          <a:xfrm>
            <a:off x="9121140" y="3886200"/>
            <a:ext cx="2583180" cy="2240280"/>
          </a:xfrm>
          <a:prstGeom prst="roundRect">
            <a:avLst>
              <a:gd name="adj" fmla="val 4082"/>
            </a:avLst>
          </a:prstGeom>
          <a:solidFill>
            <a:schemeClr val="bg2"/>
          </a:solidFill>
          <a:ln/>
        </p:spPr>
      </p:sp>
      <p:sp>
        <p:nvSpPr>
          <p:cNvPr id="39" name="icon tile"/>
          <p:cNvSpPr/>
          <p:nvPr/>
        </p:nvSpPr>
        <p:spPr>
          <a:xfrm>
            <a:off x="9395460" y="4160520"/>
            <a:ext cx="548640" cy="548640"/>
          </a:xfrm>
          <a:prstGeom prst="roundRect">
            <a:avLst>
              <a:gd name="adj" fmla="val 20000"/>
            </a:avLst>
          </a:prstGeom>
          <a:solidFill>
            <a:schemeClr val="accent1"/>
          </a:solidFill>
          <a:ln/>
        </p:spPr>
      </p:sp>
      <p:pic>
        <p:nvPicPr>
          <p:cNvPr id="40" name="FaDharmachakra" descr="preencoded.png">    </p:cNvPr>
          <p:cNvPicPr>
            <a:picLocks noChangeAspect="1"/>
          </p:cNvPicPr>
          <p:nvPr/>
        </p:nvPicPr>
        <p:blipFill>
          <a:blip r:embed="rId8"/>
          <a:stretch>
            <a:fillRect/>
          </a:stretch>
        </p:blipFill>
        <p:spPr>
          <a:xfrm>
            <a:off x="9516161" y="4281221"/>
            <a:ext cx="307238" cy="307238"/>
          </a:xfrm>
          <a:prstGeom prst="rect">
            <a:avLst/>
          </a:prstGeom>
        </p:spPr>
      </p:pic>
      <p:sp>
        <p:nvSpPr>
          <p:cNvPr id="41" name="Text 31"/>
          <p:cNvSpPr txBox="1"/>
          <p:nvPr/>
        </p:nvSpPr>
        <p:spPr>
          <a:xfrm>
            <a:off x="9395460" y="4846320"/>
            <a:ext cx="2034540" cy="365760"/>
          </a:xfrm>
          <a:prstGeom prst="rect">
            <a:avLst/>
          </a:prstGeom>
          <a:noFill/>
          <a:ln/>
        </p:spPr>
        <p:txBody>
          <a:bodyPr wrap="square" lIns="0" tIns="0" rIns="0" bIns="0" rtlCol="0" anchor="ctr"/>
          <a:lstStyle/>
          <a:p>
            <a:pPr indent="0" marL="0">
              <a:buNone/>
            </a:pPr>
            <a:r>
              <a:rPr lang="en-US" sz="1600" b="1" dirty="0">
                <a:solidFill>
                  <a:schemeClr val="tx1"/>
                </a:solidFill>
              </a:rPr>
              <a:t>Platform</a:t>
            </a:r>
            <a:endParaRPr lang="en-US" sz="1600" dirty="0"/>
          </a:p>
        </p:txBody>
      </p:sp>
      <p:sp>
        <p:nvSpPr>
          <p:cNvPr id="42" name="Text 32"/>
          <p:cNvSpPr txBox="1"/>
          <p:nvPr/>
        </p:nvSpPr>
        <p:spPr>
          <a:xfrm>
            <a:off x="9395460" y="5212080"/>
            <a:ext cx="2034540" cy="822960"/>
          </a:xfrm>
          <a:prstGeom prst="rect">
            <a:avLst/>
          </a:prstGeom>
          <a:noFill/>
          <a:ln/>
        </p:spPr>
        <p:txBody>
          <a:bodyPr wrap="square" lIns="0" tIns="0" rIns="0" bIns="0" rtlCol="0" anchor="t"/>
          <a:lstStyle/>
          <a:p>
            <a:pPr indent="0" marL="0">
              <a:buNone/>
            </a:pPr>
            <a:r>
              <a:rPr lang="en-US" sz="1400" dirty="0">
                <a:solidFill>
                  <a:schemeClr val="tx1"/>
                </a:solidFill>
              </a:rPr>
              <a:t>Helm, ingress-nginx, Argo CD, Prometheus, Grafana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Architecture: CI writes to Git, the cluster pulls</a:t>
            </a:r>
            <a:endParaRPr lang="en-US" sz="3200" dirty="0"/>
          </a:p>
        </p:txBody>
      </p:sp>
      <p:sp>
        <p:nvSpPr>
          <p:cNvPr id="3" name="Developer box"/>
          <p:cNvSpPr/>
          <p:nvPr/>
        </p:nvSpPr>
        <p:spPr>
          <a:xfrm>
            <a:off x="548640" y="1280160"/>
            <a:ext cx="1920240" cy="731520"/>
          </a:xfrm>
          <a:prstGeom prst="roundRect">
            <a:avLst>
              <a:gd name="adj" fmla="val 10000"/>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Developer</a:t>
            </a:r>
            <a:endParaRPr lang="en-US" sz="1200" dirty="0"/>
          </a:p>
          <a:p>
            <a:pPr algn="ctr" indent="0" marL="0">
              <a:buNone/>
            </a:pPr>
            <a:r>
              <a:rPr lang="en-US" sz="1050" dirty="0">
                <a:solidFill>
                  <a:schemeClr val="tx1"/>
                </a:solidFill>
              </a:rPr>
              <a:t>git push to main</a:t>
            </a:r>
            <a:endParaRPr lang="en-US" sz="1200" dirty="0"/>
          </a:p>
        </p:txBody>
      </p:sp>
      <p:sp>
        <p:nvSpPr>
          <p:cNvPr id="4" name="GitHub repo box"/>
          <p:cNvSpPr/>
          <p:nvPr/>
        </p:nvSpPr>
        <p:spPr>
          <a:xfrm>
            <a:off x="2926080" y="1280160"/>
            <a:ext cx="2103120" cy="731520"/>
          </a:xfrm>
          <a:prstGeom prst="roundRect">
            <a:avLst>
              <a:gd name="adj" fmla="val 10000"/>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GitHub repo</a:t>
            </a:r>
            <a:endParaRPr lang="en-US" sz="1200" dirty="0"/>
          </a:p>
          <a:p>
            <a:pPr algn="ctr" indent="0" marL="0">
              <a:buNone/>
            </a:pPr>
            <a:r>
              <a:rPr lang="en-US" sz="1050" dirty="0">
                <a:solidFill>
                  <a:schemeClr val="tx1"/>
                </a:solidFill>
              </a:rPr>
              <a:t>app, chart, Terraform</a:t>
            </a:r>
            <a:endParaRPr lang="en-US" sz="1200" dirty="0"/>
          </a:p>
        </p:txBody>
      </p:sp>
      <p:sp>
        <p:nvSpPr>
          <p:cNvPr id="5" name="GitHub Actions box"/>
          <p:cNvSpPr/>
          <p:nvPr/>
        </p:nvSpPr>
        <p:spPr>
          <a:xfrm>
            <a:off x="5486400" y="1280160"/>
            <a:ext cx="2651760" cy="731520"/>
          </a:xfrm>
          <a:prstGeom prst="roundRect">
            <a:avLst>
              <a:gd name="adj" fmla="val 10000"/>
            </a:avLst>
          </a:prstGeom>
          <a:solidFill>
            <a:schemeClr val="accent1"/>
          </a:solidFill>
          <a:ln w="12700">
            <a:solidFill>
              <a:srgbClr val="2F6B4F"/>
            </a:solidFill>
          </a:ln>
        </p:spPr>
        <p:txBody>
          <a:bodyPr wrap="square" lIns="50800" tIns="50800" rIns="50800" bIns="50800" rtlCol="0" anchor="ctr"/>
          <a:lstStyle/>
          <a:p>
            <a:pPr algn="ctr" indent="0" marL="0">
              <a:buNone/>
            </a:pPr>
            <a:r>
              <a:rPr lang="en-US" sz="1200" b="1" dirty="0">
                <a:solidFill>
                  <a:schemeClr val="bg1"/>
                </a:solidFill>
              </a:rPr>
              <a:t>GitHub Actions</a:t>
            </a:r>
            <a:endParaRPr lang="en-US" sz="1200" dirty="0"/>
          </a:p>
          <a:p>
            <a:pPr algn="ctr" indent="0" marL="0">
              <a:buNone/>
            </a:pPr>
            <a:r>
              <a:rPr lang="en-US" sz="1050" dirty="0">
                <a:solidFill>
                  <a:schemeClr val="bg1"/>
                </a:solidFill>
              </a:rPr>
              <a:t>test · scan · build · gate</a:t>
            </a:r>
            <a:endParaRPr lang="en-US" sz="1200" dirty="0"/>
          </a:p>
        </p:txBody>
      </p:sp>
      <p:sp>
        <p:nvSpPr>
          <p:cNvPr id="6" name="GHCR box"/>
          <p:cNvSpPr/>
          <p:nvPr/>
        </p:nvSpPr>
        <p:spPr>
          <a:xfrm>
            <a:off x="8595360" y="1280160"/>
            <a:ext cx="3017520" cy="731520"/>
          </a:xfrm>
          <a:prstGeom prst="roundRect">
            <a:avLst>
              <a:gd name="adj" fmla="val 10000"/>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GHCR</a:t>
            </a:r>
            <a:endParaRPr lang="en-US" sz="1200" dirty="0"/>
          </a:p>
          <a:p>
            <a:pPr algn="ctr" indent="0" marL="0">
              <a:buNone/>
            </a:pPr>
            <a:r>
              <a:rPr lang="en-US" sz="1050" dirty="0">
                <a:solidFill>
                  <a:schemeClr val="tx1"/>
                </a:solidFill>
              </a:rPr>
              <a:t>clinicdesk-*:&lt;commit SHA&gt;</a:t>
            </a:r>
            <a:endParaRPr lang="en-US" sz="1200" dirty="0"/>
          </a:p>
        </p:txBody>
      </p:sp>
      <p:sp>
        <p:nvSpPr>
          <p:cNvPr id="7" name="Shape 5"/>
          <p:cNvSpPr/>
          <p:nvPr/>
        </p:nvSpPr>
        <p:spPr>
          <a:xfrm>
            <a:off x="2468880" y="1645920"/>
            <a:ext cx="457200" cy="914"/>
          </a:xfrm>
          <a:prstGeom prst="line">
            <a:avLst/>
          </a:prstGeom>
          <a:noFill/>
          <a:ln w="15875">
            <a:solidFill>
              <a:srgbClr val="5E7068"/>
            </a:solidFill>
            <a:prstDash val="solid"/>
            <a:tailEnd type="triangle"/>
          </a:ln>
        </p:spPr>
      </p:sp>
      <p:sp>
        <p:nvSpPr>
          <p:cNvPr id="8" name="Shape 6"/>
          <p:cNvSpPr/>
          <p:nvPr/>
        </p:nvSpPr>
        <p:spPr>
          <a:xfrm>
            <a:off x="5029200" y="1645920"/>
            <a:ext cx="457200" cy="914"/>
          </a:xfrm>
          <a:prstGeom prst="line">
            <a:avLst/>
          </a:prstGeom>
          <a:noFill/>
          <a:ln w="15875">
            <a:solidFill>
              <a:srgbClr val="5E7068"/>
            </a:solidFill>
            <a:prstDash val="solid"/>
            <a:tailEnd type="triangle"/>
          </a:ln>
        </p:spPr>
      </p:sp>
      <p:sp>
        <p:nvSpPr>
          <p:cNvPr id="9" name="Shape 7"/>
          <p:cNvSpPr/>
          <p:nvPr/>
        </p:nvSpPr>
        <p:spPr>
          <a:xfrm>
            <a:off x="8138160" y="1645920"/>
            <a:ext cx="457200" cy="914"/>
          </a:xfrm>
          <a:prstGeom prst="line">
            <a:avLst/>
          </a:prstGeom>
          <a:noFill/>
          <a:ln w="15875">
            <a:solidFill>
              <a:srgbClr val="5E7068"/>
            </a:solidFill>
            <a:prstDash val="solid"/>
            <a:tailEnd type="triangle"/>
          </a:ln>
        </p:spPr>
      </p:sp>
      <p:sp>
        <p:nvSpPr>
          <p:cNvPr id="10" name="Receptionist box"/>
          <p:cNvSpPr/>
          <p:nvPr/>
        </p:nvSpPr>
        <p:spPr>
          <a:xfrm>
            <a:off x="822960" y="2423160"/>
            <a:ext cx="1828800" cy="640080"/>
          </a:xfrm>
          <a:prstGeom prst="roundRect">
            <a:avLst>
              <a:gd name="adj" fmla="val 11429"/>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Receptionist</a:t>
            </a:r>
            <a:endParaRPr lang="en-US" sz="1200" dirty="0"/>
          </a:p>
          <a:p>
            <a:pPr algn="ctr" indent="0" marL="0">
              <a:buNone/>
            </a:pPr>
            <a:r>
              <a:rPr lang="en-US" sz="1050" dirty="0">
                <a:solidFill>
                  <a:schemeClr val="tx1"/>
                </a:solidFill>
              </a:rPr>
              <a:t>browser</a:t>
            </a:r>
            <a:endParaRPr lang="en-US" sz="1200" dirty="0"/>
          </a:p>
        </p:txBody>
      </p:sp>
      <p:sp>
        <p:nvSpPr>
          <p:cNvPr id="11" name="gitops/values-eks.yaml box"/>
          <p:cNvSpPr/>
          <p:nvPr/>
        </p:nvSpPr>
        <p:spPr>
          <a:xfrm>
            <a:off x="5486400" y="2423160"/>
            <a:ext cx="2651760" cy="640080"/>
          </a:xfrm>
          <a:prstGeom prst="roundRect">
            <a:avLst>
              <a:gd name="adj" fmla="val 11429"/>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gitops/values-eks.yaml</a:t>
            </a:r>
            <a:endParaRPr lang="en-US" sz="1200" dirty="0"/>
          </a:p>
          <a:p>
            <a:pPr algn="ctr" indent="0" marL="0">
              <a:buNone/>
            </a:pPr>
            <a:r>
              <a:rPr lang="en-US" sz="1050" dirty="0">
                <a:solidFill>
                  <a:schemeClr val="tx1"/>
                </a:solidFill>
              </a:rPr>
              <a:t>bot commit bumps the tag</a:t>
            </a:r>
            <a:endParaRPr lang="en-US" sz="1200" dirty="0"/>
          </a:p>
        </p:txBody>
      </p:sp>
      <p:sp>
        <p:nvSpPr>
          <p:cNvPr id="12" name="Terraform box"/>
          <p:cNvSpPr/>
          <p:nvPr/>
        </p:nvSpPr>
        <p:spPr>
          <a:xfrm>
            <a:off x="8595360" y="2423160"/>
            <a:ext cx="3017520" cy="640080"/>
          </a:xfrm>
          <a:prstGeom prst="roundRect">
            <a:avLst>
              <a:gd name="adj" fmla="val 11429"/>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Terraform</a:t>
            </a:r>
            <a:endParaRPr lang="en-US" sz="1200" dirty="0"/>
          </a:p>
          <a:p>
            <a:pPr algn="ctr" indent="0" marL="0">
              <a:buNone/>
            </a:pPr>
            <a:r>
              <a:rPr lang="en-US" sz="1050" dirty="0">
                <a:solidFill>
                  <a:schemeClr val="tx1"/>
                </a:solidFill>
              </a:rPr>
              <a:t>VPC · subnets · NAT · EKS</a:t>
            </a:r>
            <a:endParaRPr lang="en-US" sz="1200" dirty="0"/>
          </a:p>
        </p:txBody>
      </p:sp>
      <p:sp>
        <p:nvSpPr>
          <p:cNvPr id="13" name="Shape 11"/>
          <p:cNvSpPr/>
          <p:nvPr/>
        </p:nvSpPr>
        <p:spPr>
          <a:xfrm>
            <a:off x="6812280" y="2011680"/>
            <a:ext cx="914" cy="411480"/>
          </a:xfrm>
          <a:prstGeom prst="line">
            <a:avLst/>
          </a:prstGeom>
          <a:noFill/>
          <a:ln w="15875">
            <a:solidFill>
              <a:srgbClr val="5E7068"/>
            </a:solidFill>
            <a:prstDash val="solid"/>
            <a:tailEnd type="triangle"/>
          </a:ln>
        </p:spPr>
      </p:sp>
      <p:sp>
        <p:nvSpPr>
          <p:cNvPr id="14" name="EKS cluster"/>
          <p:cNvSpPr/>
          <p:nvPr/>
        </p:nvSpPr>
        <p:spPr>
          <a:xfrm>
            <a:off x="548640" y="3429000"/>
            <a:ext cx="11064240" cy="2788920"/>
          </a:xfrm>
          <a:prstGeom prst="roundRect">
            <a:avLst>
              <a:gd name="adj" fmla="val 2623"/>
            </a:avLst>
          </a:prstGeom>
          <a:solidFill>
            <a:schemeClr val="bg2"/>
          </a:solidFill>
          <a:ln w="12700">
            <a:solidFill>
              <a:srgbClr val="C9D8CF"/>
            </a:solidFill>
            <a:prstDash val="solid"/>
          </a:ln>
        </p:spPr>
      </p:sp>
      <p:sp>
        <p:nvSpPr>
          <p:cNvPr id="15" name="Text 13"/>
          <p:cNvSpPr txBox="1"/>
          <p:nvPr/>
        </p:nvSpPr>
        <p:spPr>
          <a:xfrm>
            <a:off x="3291840" y="3493008"/>
            <a:ext cx="8046720" cy="320040"/>
          </a:xfrm>
          <a:prstGeom prst="rect">
            <a:avLst/>
          </a:prstGeom>
          <a:noFill/>
          <a:ln/>
        </p:spPr>
        <p:txBody>
          <a:bodyPr wrap="square" lIns="0" tIns="0" rIns="0" bIns="0" rtlCol="0" anchor="ctr"/>
          <a:lstStyle/>
          <a:p>
            <a:pPr indent="0" marL="0">
              <a:buNone/>
            </a:pPr>
            <a:r>
              <a:rPr lang="en-US" sz="1100" b="1" dirty="0">
                <a:solidFill>
                  <a:schemeClr val="accent1"/>
                </a:solidFill>
              </a:rPr>
              <a:t>AWS EKS 1.36  ·  ap-south-1  ·  namespace clinicdesk (restricted Pod Security)</a:t>
            </a:r>
            <a:endParaRPr lang="en-US" sz="1100" dirty="0"/>
          </a:p>
        </p:txBody>
      </p:sp>
      <p:sp>
        <p:nvSpPr>
          <p:cNvPr id="16" name="Shape 14"/>
          <p:cNvSpPr/>
          <p:nvPr/>
        </p:nvSpPr>
        <p:spPr>
          <a:xfrm>
            <a:off x="1737360" y="3063240"/>
            <a:ext cx="914" cy="1280160"/>
          </a:xfrm>
          <a:prstGeom prst="line">
            <a:avLst/>
          </a:prstGeom>
          <a:noFill/>
          <a:ln w="15875">
            <a:solidFill>
              <a:srgbClr val="5E7068"/>
            </a:solidFill>
            <a:prstDash val="solid"/>
            <a:tailEnd type="triangle"/>
          </a:ln>
        </p:spPr>
      </p:sp>
      <p:sp>
        <p:nvSpPr>
          <p:cNvPr id="17" name="Shape 15"/>
          <p:cNvSpPr/>
          <p:nvPr/>
        </p:nvSpPr>
        <p:spPr>
          <a:xfrm>
            <a:off x="6812280" y="3063240"/>
            <a:ext cx="914" cy="868680"/>
          </a:xfrm>
          <a:prstGeom prst="line">
            <a:avLst/>
          </a:prstGeom>
          <a:noFill/>
          <a:ln w="15875">
            <a:solidFill>
              <a:srgbClr val="5E7068"/>
            </a:solidFill>
            <a:prstDash val="solid"/>
            <a:tailEnd type="triangle"/>
          </a:ln>
        </p:spPr>
      </p:sp>
      <p:sp>
        <p:nvSpPr>
          <p:cNvPr id="18" name="Shape 16"/>
          <p:cNvSpPr/>
          <p:nvPr/>
        </p:nvSpPr>
        <p:spPr>
          <a:xfrm>
            <a:off x="10104120" y="3063240"/>
            <a:ext cx="914" cy="365760"/>
          </a:xfrm>
          <a:prstGeom prst="line">
            <a:avLst/>
          </a:prstGeom>
          <a:noFill/>
          <a:ln w="15875">
            <a:solidFill>
              <a:srgbClr val="5E7068"/>
            </a:solidFill>
            <a:prstDash val="solid"/>
            <a:tailEnd type="triangle"/>
          </a:ln>
        </p:spPr>
      </p:sp>
      <p:sp>
        <p:nvSpPr>
          <p:cNvPr id="19" name="Ingress (NLB) box"/>
          <p:cNvSpPr/>
          <p:nvPr/>
        </p:nvSpPr>
        <p:spPr>
          <a:xfrm>
            <a:off x="822960" y="4343400"/>
            <a:ext cx="1828800" cy="685800"/>
          </a:xfrm>
          <a:prstGeom prst="roundRect">
            <a:avLst>
              <a:gd name="adj" fmla="val 10667"/>
            </a:avLst>
          </a:prstGeom>
          <a:solidFill>
            <a:schemeClr val="accent1"/>
          </a:solidFill>
          <a:ln w="12700">
            <a:solidFill>
              <a:srgbClr val="2F6B4F"/>
            </a:solidFill>
          </a:ln>
        </p:spPr>
        <p:txBody>
          <a:bodyPr wrap="square" lIns="50800" tIns="50800" rIns="50800" bIns="50800" rtlCol="0" anchor="ctr"/>
          <a:lstStyle/>
          <a:p>
            <a:pPr algn="ctr" indent="0" marL="0">
              <a:buNone/>
            </a:pPr>
            <a:r>
              <a:rPr lang="en-US" sz="1200" b="1" dirty="0">
                <a:solidFill>
                  <a:schemeClr val="bg1"/>
                </a:solidFill>
              </a:rPr>
              <a:t>Ingress (NLB)</a:t>
            </a:r>
            <a:endParaRPr lang="en-US" sz="1200" dirty="0"/>
          </a:p>
          <a:p>
            <a:pPr algn="ctr" indent="0" marL="0">
              <a:buNone/>
            </a:pPr>
            <a:r>
              <a:rPr lang="en-US" sz="1050" dirty="0">
                <a:solidFill>
                  <a:schemeClr val="bg1"/>
                </a:solidFill>
              </a:rPr>
              <a:t>/ and /api</a:t>
            </a:r>
            <a:endParaRPr lang="en-US" sz="1200" dirty="0"/>
          </a:p>
        </p:txBody>
      </p:sp>
      <p:sp>
        <p:nvSpPr>
          <p:cNvPr id="20" name="frontend × 2 box"/>
          <p:cNvSpPr/>
          <p:nvPr/>
        </p:nvSpPr>
        <p:spPr>
          <a:xfrm>
            <a:off x="3291840" y="3931920"/>
            <a:ext cx="1920240" cy="594360"/>
          </a:xfrm>
          <a:prstGeom prst="roundRect">
            <a:avLst>
              <a:gd name="adj" fmla="val 12308"/>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frontend × 2</a:t>
            </a:r>
            <a:endParaRPr lang="en-US" sz="1200" dirty="0"/>
          </a:p>
          <a:p>
            <a:pPr algn="ctr" indent="0" marL="0">
              <a:buNone/>
            </a:pPr>
            <a:r>
              <a:rPr lang="en-US" sz="1050" dirty="0">
                <a:solidFill>
                  <a:schemeClr val="tx1"/>
                </a:solidFill>
              </a:rPr>
              <a:t>nginx :8080</a:t>
            </a:r>
            <a:endParaRPr lang="en-US" sz="1200" dirty="0"/>
          </a:p>
        </p:txBody>
      </p:sp>
      <p:sp>
        <p:nvSpPr>
          <p:cNvPr id="21" name="backend × 2–5 box"/>
          <p:cNvSpPr/>
          <p:nvPr/>
        </p:nvSpPr>
        <p:spPr>
          <a:xfrm>
            <a:off x="3291840" y="4754880"/>
            <a:ext cx="1920240" cy="594360"/>
          </a:xfrm>
          <a:prstGeom prst="roundRect">
            <a:avLst>
              <a:gd name="adj" fmla="val 12308"/>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backend × 2–5</a:t>
            </a:r>
            <a:endParaRPr lang="en-US" sz="1200" dirty="0"/>
          </a:p>
          <a:p>
            <a:pPr algn="ctr" indent="0" marL="0">
              <a:buNone/>
            </a:pPr>
            <a:r>
              <a:rPr lang="en-US" sz="1050" dirty="0">
                <a:solidFill>
                  <a:schemeClr val="tx1"/>
                </a:solidFill>
              </a:rPr>
              <a:t>FastAPI :8000, HPA</a:t>
            </a:r>
            <a:endParaRPr lang="en-US" sz="1200" dirty="0"/>
          </a:p>
        </p:txBody>
      </p:sp>
      <p:sp>
        <p:nvSpPr>
          <p:cNvPr id="22" name="Prometheus box"/>
          <p:cNvSpPr/>
          <p:nvPr/>
        </p:nvSpPr>
        <p:spPr>
          <a:xfrm>
            <a:off x="3291840" y="5532120"/>
            <a:ext cx="1920240" cy="548640"/>
          </a:xfrm>
          <a:prstGeom prst="roundRect">
            <a:avLst>
              <a:gd name="adj" fmla="val 13333"/>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Prometheus</a:t>
            </a:r>
            <a:endParaRPr lang="en-US" sz="1200" dirty="0"/>
          </a:p>
          <a:p>
            <a:pPr algn="ctr" indent="0" marL="0">
              <a:buNone/>
            </a:pPr>
            <a:r>
              <a:rPr lang="en-US" sz="1050" dirty="0">
                <a:solidFill>
                  <a:schemeClr val="tx1"/>
                </a:solidFill>
              </a:rPr>
              <a:t>scrapes /metrics</a:t>
            </a:r>
            <a:endParaRPr lang="en-US" sz="1200" dirty="0"/>
          </a:p>
        </p:txBody>
      </p:sp>
      <p:sp>
        <p:nvSpPr>
          <p:cNvPr id="23" name="Argo CD box"/>
          <p:cNvSpPr/>
          <p:nvPr/>
        </p:nvSpPr>
        <p:spPr>
          <a:xfrm>
            <a:off x="5852160" y="3931920"/>
            <a:ext cx="2286000" cy="594360"/>
          </a:xfrm>
          <a:prstGeom prst="roundRect">
            <a:avLst>
              <a:gd name="adj" fmla="val 12308"/>
            </a:avLst>
          </a:prstGeom>
          <a:solidFill>
            <a:schemeClr val="accent1"/>
          </a:solidFill>
          <a:ln w="12700">
            <a:solidFill>
              <a:srgbClr val="2F6B4F"/>
            </a:solidFill>
          </a:ln>
        </p:spPr>
        <p:txBody>
          <a:bodyPr wrap="square" lIns="50800" tIns="50800" rIns="50800" bIns="50800" rtlCol="0" anchor="ctr"/>
          <a:lstStyle/>
          <a:p>
            <a:pPr algn="ctr" indent="0" marL="0">
              <a:buNone/>
            </a:pPr>
            <a:r>
              <a:rPr lang="en-US" sz="1200" b="1" dirty="0">
                <a:solidFill>
                  <a:schemeClr val="bg1"/>
                </a:solidFill>
              </a:rPr>
              <a:t>Argo CD</a:t>
            </a:r>
            <a:endParaRPr lang="en-US" sz="1200" dirty="0"/>
          </a:p>
          <a:p>
            <a:pPr algn="ctr" indent="0" marL="0">
              <a:buNone/>
            </a:pPr>
            <a:r>
              <a:rPr lang="en-US" sz="1050" dirty="0">
                <a:solidFill>
                  <a:schemeClr val="bg1"/>
                </a:solidFill>
              </a:rPr>
              <a:t>syncs the Helm chart</a:t>
            </a:r>
            <a:endParaRPr lang="en-US" sz="1200" dirty="0"/>
          </a:p>
        </p:txBody>
      </p:sp>
      <p:sp>
        <p:nvSpPr>
          <p:cNvPr id="24" name="PostgreSQL box"/>
          <p:cNvSpPr/>
          <p:nvPr/>
        </p:nvSpPr>
        <p:spPr>
          <a:xfrm>
            <a:off x="5852160" y="4754880"/>
            <a:ext cx="2286000" cy="594360"/>
          </a:xfrm>
          <a:prstGeom prst="roundRect">
            <a:avLst>
              <a:gd name="adj" fmla="val 12308"/>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PostgreSQL</a:t>
            </a:r>
            <a:endParaRPr lang="en-US" sz="1200" dirty="0"/>
          </a:p>
          <a:p>
            <a:pPr algn="ctr" indent="0" marL="0">
              <a:buNone/>
            </a:pPr>
            <a:r>
              <a:rPr lang="en-US" sz="1050" dirty="0">
                <a:solidFill>
                  <a:schemeClr val="tx1"/>
                </a:solidFill>
              </a:rPr>
              <a:t>StatefulSet + EBS PVC</a:t>
            </a:r>
            <a:endParaRPr lang="en-US" sz="1200" dirty="0"/>
          </a:p>
        </p:txBody>
      </p:sp>
      <p:sp>
        <p:nvSpPr>
          <p:cNvPr id="25" name="Grafana box"/>
          <p:cNvSpPr/>
          <p:nvPr/>
        </p:nvSpPr>
        <p:spPr>
          <a:xfrm>
            <a:off x="5852160" y="5532120"/>
            <a:ext cx="2286000" cy="548640"/>
          </a:xfrm>
          <a:prstGeom prst="roundRect">
            <a:avLst>
              <a:gd name="adj" fmla="val 13333"/>
            </a:avLst>
          </a:prstGeom>
          <a:solidFill>
            <a:schemeClr val="bg1"/>
          </a:solidFill>
          <a:ln w="12700">
            <a:solidFill>
              <a:srgbClr val="C9D8CF"/>
            </a:solidFill>
          </a:ln>
        </p:spPr>
        <p:txBody>
          <a:bodyPr wrap="square" lIns="50800" tIns="50800" rIns="50800" bIns="50800" rtlCol="0" anchor="ctr"/>
          <a:lstStyle/>
          <a:p>
            <a:pPr algn="ctr" indent="0" marL="0">
              <a:buNone/>
            </a:pPr>
            <a:r>
              <a:rPr lang="en-US" sz="1200" b="1" dirty="0">
                <a:solidFill>
                  <a:schemeClr val="tx1"/>
                </a:solidFill>
              </a:rPr>
              <a:t>Grafana</a:t>
            </a:r>
            <a:endParaRPr lang="en-US" sz="1200" dirty="0"/>
          </a:p>
          <a:p>
            <a:pPr algn="ctr" indent="0" marL="0">
              <a:buNone/>
            </a:pPr>
            <a:r>
              <a:rPr lang="en-US" sz="1050" dirty="0">
                <a:solidFill>
                  <a:schemeClr val="tx1"/>
                </a:solidFill>
              </a:rPr>
              <a:t>8-panel dashboard</a:t>
            </a:r>
            <a:endParaRPr lang="en-US" sz="1200" dirty="0"/>
          </a:p>
        </p:txBody>
      </p:sp>
      <p:sp>
        <p:nvSpPr>
          <p:cNvPr id="26" name="Shape 24"/>
          <p:cNvSpPr/>
          <p:nvPr/>
        </p:nvSpPr>
        <p:spPr>
          <a:xfrm flipV="1">
            <a:off x="2651760" y="4251960"/>
            <a:ext cx="640080" cy="274320"/>
          </a:xfrm>
          <a:prstGeom prst="line">
            <a:avLst/>
          </a:prstGeom>
          <a:noFill/>
          <a:ln w="15875">
            <a:solidFill>
              <a:srgbClr val="5E7068"/>
            </a:solidFill>
            <a:prstDash val="solid"/>
            <a:tailEnd type="triangle"/>
          </a:ln>
        </p:spPr>
      </p:sp>
      <p:sp>
        <p:nvSpPr>
          <p:cNvPr id="27" name="Shape 25"/>
          <p:cNvSpPr/>
          <p:nvPr/>
        </p:nvSpPr>
        <p:spPr>
          <a:xfrm>
            <a:off x="2651760" y="4846320"/>
            <a:ext cx="640080" cy="182880"/>
          </a:xfrm>
          <a:prstGeom prst="line">
            <a:avLst/>
          </a:prstGeom>
          <a:noFill/>
          <a:ln w="15875">
            <a:solidFill>
              <a:srgbClr val="5E7068"/>
            </a:solidFill>
            <a:prstDash val="solid"/>
            <a:tailEnd type="triangle"/>
          </a:ln>
        </p:spPr>
      </p:sp>
      <p:sp>
        <p:nvSpPr>
          <p:cNvPr id="28" name="Shape 26"/>
          <p:cNvSpPr/>
          <p:nvPr/>
        </p:nvSpPr>
        <p:spPr>
          <a:xfrm>
            <a:off x="5212080" y="5047488"/>
            <a:ext cx="640080" cy="914"/>
          </a:xfrm>
          <a:prstGeom prst="line">
            <a:avLst/>
          </a:prstGeom>
          <a:noFill/>
          <a:ln w="15875">
            <a:solidFill>
              <a:srgbClr val="5E7068"/>
            </a:solidFill>
            <a:prstDash val="solid"/>
            <a:tailEnd type="triangle"/>
          </a:ln>
        </p:spPr>
      </p:sp>
      <p:sp>
        <p:nvSpPr>
          <p:cNvPr id="29" name="Shape 27"/>
          <p:cNvSpPr/>
          <p:nvPr/>
        </p:nvSpPr>
        <p:spPr>
          <a:xfrm flipV="1">
            <a:off x="4251960" y="5349240"/>
            <a:ext cx="914" cy="182880"/>
          </a:xfrm>
          <a:prstGeom prst="line">
            <a:avLst/>
          </a:prstGeom>
          <a:noFill/>
          <a:ln w="15875">
            <a:solidFill>
              <a:srgbClr val="5E7068"/>
            </a:solidFill>
            <a:prstDash val="dash"/>
            <a:tailEnd type="triangle"/>
          </a:ln>
        </p:spPr>
      </p:sp>
      <p:sp>
        <p:nvSpPr>
          <p:cNvPr id="30" name="Shape 28"/>
          <p:cNvSpPr/>
          <p:nvPr/>
        </p:nvSpPr>
        <p:spPr>
          <a:xfrm flipH="1">
            <a:off x="5212080" y="5806440"/>
            <a:ext cx="640080" cy="914"/>
          </a:xfrm>
          <a:prstGeom prst="line">
            <a:avLst/>
          </a:prstGeom>
          <a:noFill/>
          <a:ln w="15875">
            <a:solidFill>
              <a:srgbClr val="5E7068"/>
            </a:solidFill>
            <a:prstDash val="dash"/>
            <a:tailEnd type="triangle"/>
          </a:ln>
        </p:spPr>
      </p:sp>
      <p:sp>
        <p:nvSpPr>
          <p:cNvPr id="31" name="Text 29"/>
          <p:cNvSpPr txBox="1"/>
          <p:nvPr/>
        </p:nvSpPr>
        <p:spPr>
          <a:xfrm>
            <a:off x="8595360" y="3931920"/>
            <a:ext cx="2788920" cy="2103120"/>
          </a:xfrm>
          <a:prstGeom prst="rect">
            <a:avLst/>
          </a:prstGeom>
          <a:noFill/>
          <a:ln/>
        </p:spPr>
        <p:txBody>
          <a:bodyPr wrap="square" lIns="0" tIns="0" rIns="0" bIns="0" rtlCol="0" anchor="t"/>
          <a:lstStyle/>
          <a:p>
            <a:pPr indent="0" marL="0">
              <a:buNone/>
            </a:pPr>
            <a:r>
              <a:rPr lang="en-US" sz="1200" b="1" dirty="0">
                <a:solidFill>
                  <a:schemeClr val="tx1"/>
                </a:solidFill>
              </a:rPr>
              <a:t>Pull, not push</a:t>
            </a:r>
            <a:endParaRPr lang="en-US" sz="1200" dirty="0"/>
          </a:p>
          <a:p>
            <a:pPr indent="0" marL="0">
              <a:buNone/>
            </a:pPr>
            <a:r>
              <a:rPr lang="en-US" sz="1200" dirty="0">
                <a:solidFill>
                  <a:schemeClr val="tx1"/>
                </a:solidFill>
              </a:rPr>
              <a:t>GitHub never holds a kubeconfig or AWS key. The pipeline's last step is a Git commit; Argo CD inside the cluster pulls it.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Application and tests: 23 checks gate every build</a:t>
            </a:r>
            <a:endParaRPr lang="en-US" sz="3200" dirty="0"/>
          </a:p>
        </p:txBody>
      </p:sp>
      <p:sp>
        <p:nvSpPr>
          <p:cNvPr id="3" name="Text 1"/>
          <p:cNvSpPr txBox="1"/>
          <p:nvPr/>
        </p:nvSpPr>
        <p:spPr>
          <a:xfrm>
            <a:off x="548640" y="1371600"/>
            <a:ext cx="146304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23</a:t>
            </a:r>
            <a:endParaRPr lang="en-US" sz="4800" dirty="0"/>
          </a:p>
        </p:txBody>
      </p:sp>
      <p:sp>
        <p:nvSpPr>
          <p:cNvPr id="4" name="Text 2"/>
          <p:cNvSpPr txBox="1"/>
          <p:nvPr/>
        </p:nvSpPr>
        <p:spPr>
          <a:xfrm>
            <a:off x="2103120" y="1417320"/>
            <a:ext cx="3108960" cy="777240"/>
          </a:xfrm>
          <a:prstGeom prst="rect">
            <a:avLst/>
          </a:prstGeom>
          <a:noFill/>
          <a:ln/>
        </p:spPr>
        <p:txBody>
          <a:bodyPr wrap="square" lIns="0" tIns="0" rIns="0" bIns="0" rtlCol="0" anchor="ctr"/>
          <a:lstStyle/>
          <a:p>
            <a:pPr indent="0" marL="0">
              <a:buNone/>
            </a:pPr>
            <a:r>
              <a:rPr lang="en-US" sz="1400" dirty="0">
                <a:solidFill>
                  <a:schemeClr val="tx1"/>
                </a:solidFill>
              </a:rPr>
              <a:t>pytest tests pass in 0.64 s, on SQLite in memory, never the real database</a:t>
            </a:r>
            <a:endParaRPr lang="en-US" sz="1400" dirty="0"/>
          </a:p>
        </p:txBody>
      </p:sp>
      <p:sp>
        <p:nvSpPr>
          <p:cNvPr id="5" name="Text 3"/>
          <p:cNvSpPr txBox="1"/>
          <p:nvPr/>
        </p:nvSpPr>
        <p:spPr>
          <a:xfrm>
            <a:off x="548640" y="2697480"/>
            <a:ext cx="146304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a:t>
            </a:r>
            <a:endParaRPr lang="en-US" sz="4800" dirty="0"/>
          </a:p>
        </p:txBody>
      </p:sp>
      <p:sp>
        <p:nvSpPr>
          <p:cNvPr id="6" name="Text 4"/>
          <p:cNvSpPr txBox="1"/>
          <p:nvPr/>
        </p:nvSpPr>
        <p:spPr>
          <a:xfrm>
            <a:off x="2103120" y="2743200"/>
            <a:ext cx="3108960" cy="777240"/>
          </a:xfrm>
          <a:prstGeom prst="rect">
            <a:avLst/>
          </a:prstGeom>
          <a:noFill/>
          <a:ln/>
        </p:spPr>
        <p:txBody>
          <a:bodyPr wrap="square" lIns="0" tIns="0" rIns="0" bIns="0" rtlCol="0" anchor="ctr"/>
          <a:lstStyle/>
          <a:p>
            <a:pPr indent="0" marL="0">
              <a:buNone/>
            </a:pPr>
            <a:r>
              <a:rPr lang="en-US" sz="1400" dirty="0">
                <a:solidFill>
                  <a:schemeClr val="tx1"/>
                </a:solidFill>
              </a:rPr>
              <a:t>tables (doctors, patients, appointments) managed by 2 Alembic migrations</a:t>
            </a:r>
            <a:endParaRPr lang="en-US" sz="1400" dirty="0"/>
          </a:p>
        </p:txBody>
      </p:sp>
      <p:sp>
        <p:nvSpPr>
          <p:cNvPr id="7" name="Text 5"/>
          <p:cNvSpPr txBox="1"/>
          <p:nvPr/>
        </p:nvSpPr>
        <p:spPr>
          <a:xfrm>
            <a:off x="548640" y="4023360"/>
            <a:ext cx="146304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409</a:t>
            </a:r>
            <a:endParaRPr lang="en-US" sz="4800" dirty="0"/>
          </a:p>
        </p:txBody>
      </p:sp>
      <p:sp>
        <p:nvSpPr>
          <p:cNvPr id="8" name="Text 6"/>
          <p:cNvSpPr txBox="1"/>
          <p:nvPr/>
        </p:nvSpPr>
        <p:spPr>
          <a:xfrm>
            <a:off x="2103120" y="4069080"/>
            <a:ext cx="3108960" cy="777240"/>
          </a:xfrm>
          <a:prstGeom prst="rect">
            <a:avLst/>
          </a:prstGeom>
          <a:noFill/>
          <a:ln/>
        </p:spPr>
        <p:txBody>
          <a:bodyPr wrap="square" lIns="0" tIns="0" rIns="0" bIns="0" rtlCol="0" anchor="ctr"/>
          <a:lstStyle/>
          <a:p>
            <a:pPr indent="0" marL="0">
              <a:buNone/>
            </a:pPr>
            <a:r>
              <a:rPr lang="en-US" sz="1400" dirty="0">
                <a:solidFill>
                  <a:schemeClr val="tx1"/>
                </a:solidFill>
              </a:rPr>
              <a:t>returned when a booking would clash with a doctor's existing slot</a:t>
            </a:r>
            <a:endParaRPr lang="en-US" sz="1400" dirty="0"/>
          </a:p>
        </p:txBody>
      </p:sp>
      <p:sp>
        <p:nvSpPr>
          <p:cNvPr id="9" name="pytest -v output frame"/>
          <p:cNvSpPr/>
          <p:nvPr/>
        </p:nvSpPr>
        <p:spPr>
          <a:xfrm>
            <a:off x="5577840" y="1371600"/>
            <a:ext cx="6035040" cy="4215384"/>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10" name="pytest -v output" descr="pytest -v output">    </p:cNvPr>
          <p:cNvPicPr>
            <a:picLocks noChangeAspect="1"/>
          </p:cNvPicPr>
          <p:nvPr/>
        </p:nvPicPr>
        <p:blipFill>
          <a:blip r:embed="rId1"/>
          <a:stretch>
            <a:fillRect/>
          </a:stretch>
        </p:blipFill>
        <p:spPr>
          <a:xfrm>
            <a:off x="5577840" y="1371600"/>
            <a:ext cx="6035040" cy="4215384"/>
          </a:xfrm>
          <a:prstGeom prst="rect">
            <a:avLst/>
          </a:prstGeom>
        </p:spPr>
      </p:pic>
      <p:sp>
        <p:nvSpPr>
          <p:cNvPr id="11" name="Text 8"/>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200" i="1" dirty="0">
                <a:solidFill>
                  <a:schemeClr val="accent5"/>
                </a:solidFill>
              </a:rPr>
              <a:t>REST API: GET / POST / PUT / DELETE on appointments, plus doctors, patients, stats, /health, /ready, /metrics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Containers: small, non-root, zero HIGH or CRITICAL CVEs</a:t>
            </a:r>
            <a:endParaRPr lang="en-US" sz="3200" dirty="0"/>
          </a:p>
        </p:txBody>
      </p:sp>
      <p:sp>
        <p:nvSpPr>
          <p:cNvPr id="3" name="Backend image card"/>
          <p:cNvSpPr/>
          <p:nvPr/>
        </p:nvSpPr>
        <p:spPr>
          <a:xfrm>
            <a:off x="548640" y="1371600"/>
            <a:ext cx="3502152" cy="3017520"/>
          </a:xfrm>
          <a:prstGeom prst="roundRect">
            <a:avLst>
              <a:gd name="adj" fmla="val 3030"/>
            </a:avLst>
          </a:prstGeom>
          <a:solidFill>
            <a:schemeClr val="bg2"/>
          </a:solidFill>
          <a:ln/>
        </p:spPr>
      </p:sp>
      <p:sp>
        <p:nvSpPr>
          <p:cNvPr id="4" name="icon tile"/>
          <p:cNvSpPr/>
          <p:nvPr/>
        </p:nvSpPr>
        <p:spPr>
          <a:xfrm>
            <a:off x="822960" y="1645920"/>
            <a:ext cx="548640" cy="548640"/>
          </a:xfrm>
          <a:prstGeom prst="roundRect">
            <a:avLst>
              <a:gd name="adj" fmla="val 20000"/>
            </a:avLst>
          </a:prstGeom>
          <a:solidFill>
            <a:schemeClr val="accent1"/>
          </a:solidFill>
          <a:ln/>
        </p:spPr>
      </p:sp>
      <p:pic>
        <p:nvPicPr>
          <p:cNvPr id="5" name="FaPython" descr="preencoded.png">    </p:cNvPr>
          <p:cNvPicPr>
            <a:picLocks noChangeAspect="1"/>
          </p:cNvPicPr>
          <p:nvPr/>
        </p:nvPicPr>
        <p:blipFill>
          <a:blip r:embed="rId1"/>
          <a:stretch>
            <a:fillRect/>
          </a:stretch>
        </p:blipFill>
        <p:spPr>
          <a:xfrm>
            <a:off x="943661" y="1766621"/>
            <a:ext cx="307238" cy="307238"/>
          </a:xfrm>
          <a:prstGeom prst="rect">
            <a:avLst/>
          </a:prstGeom>
        </p:spPr>
      </p:pic>
      <p:sp>
        <p:nvSpPr>
          <p:cNvPr id="6" name="Text 3"/>
          <p:cNvSpPr txBox="1"/>
          <p:nvPr/>
        </p:nvSpPr>
        <p:spPr>
          <a:xfrm>
            <a:off x="822960" y="2331720"/>
            <a:ext cx="2953512" cy="365760"/>
          </a:xfrm>
          <a:prstGeom prst="rect">
            <a:avLst/>
          </a:prstGeom>
          <a:noFill/>
          <a:ln/>
        </p:spPr>
        <p:txBody>
          <a:bodyPr wrap="square" lIns="0" tIns="0" rIns="0" bIns="0" rtlCol="0" anchor="ctr"/>
          <a:lstStyle/>
          <a:p>
            <a:pPr indent="0" marL="0">
              <a:buNone/>
            </a:pPr>
            <a:r>
              <a:rPr lang="en-US" sz="1800" b="1" dirty="0">
                <a:solidFill>
                  <a:schemeClr val="tx1"/>
                </a:solidFill>
              </a:rPr>
              <a:t>Backend image</a:t>
            </a:r>
            <a:endParaRPr lang="en-US" sz="1800" dirty="0"/>
          </a:p>
        </p:txBody>
      </p:sp>
      <p:sp>
        <p:nvSpPr>
          <p:cNvPr id="7" name="Text 4"/>
          <p:cNvSpPr txBox="1"/>
          <p:nvPr/>
        </p:nvSpPr>
        <p:spPr>
          <a:xfrm>
            <a:off x="822960" y="2788920"/>
            <a:ext cx="3044952"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Multi-stage on python:3.14-alpine</a:t>
            </a:r>
            <a:endParaRPr lang="en-US" sz="1400" dirty="0"/>
          </a:p>
          <a:p>
            <a:pPr marL="342900" indent="-342900">
              <a:spcAft>
                <a:spcPts val="600"/>
              </a:spcAft>
              <a:buSzPct val="100000"/>
              <a:buChar char="•"/>
            </a:pPr>
            <a:r>
              <a:rPr lang="en-US" sz="1400" dirty="0">
                <a:solidFill>
                  <a:schemeClr val="tx1"/>
                </a:solidFill>
              </a:rPr>
              <a:t>Runs as uid 10001, read-only root filesystem</a:t>
            </a:r>
            <a:endParaRPr lang="en-US" sz="1400" dirty="0"/>
          </a:p>
          <a:p>
            <a:pPr marL="342900" indent="-342900">
              <a:spcAft>
                <a:spcPts val="600"/>
              </a:spcAft>
              <a:buSzPct val="100000"/>
              <a:buChar char="•"/>
            </a:pPr>
            <a:r>
              <a:rPr lang="en-US" sz="1400" dirty="0">
                <a:solidFill>
                  <a:schemeClr val="tx1"/>
                </a:solidFill>
              </a:rPr>
              <a:t>Migrates with Alembic, then starts Uvicorn</a:t>
            </a:r>
            <a:endParaRPr lang="en-US" sz="1400" dirty="0"/>
          </a:p>
        </p:txBody>
      </p:sp>
      <p:sp>
        <p:nvSpPr>
          <p:cNvPr id="8" name="Frontend image card"/>
          <p:cNvSpPr/>
          <p:nvPr/>
        </p:nvSpPr>
        <p:spPr>
          <a:xfrm>
            <a:off x="4325112" y="1371600"/>
            <a:ext cx="3502152" cy="3017520"/>
          </a:xfrm>
          <a:prstGeom prst="roundRect">
            <a:avLst>
              <a:gd name="adj" fmla="val 3030"/>
            </a:avLst>
          </a:prstGeom>
          <a:solidFill>
            <a:schemeClr val="bg2"/>
          </a:solidFill>
          <a:ln/>
        </p:spPr>
      </p:sp>
      <p:sp>
        <p:nvSpPr>
          <p:cNvPr id="9" name="icon tile"/>
          <p:cNvSpPr/>
          <p:nvPr/>
        </p:nvSpPr>
        <p:spPr>
          <a:xfrm>
            <a:off x="4599432" y="1645920"/>
            <a:ext cx="548640" cy="548640"/>
          </a:xfrm>
          <a:prstGeom prst="roundRect">
            <a:avLst>
              <a:gd name="adj" fmla="val 20000"/>
            </a:avLst>
          </a:prstGeom>
          <a:solidFill>
            <a:schemeClr val="accent1"/>
          </a:solidFill>
          <a:ln/>
        </p:spPr>
      </p:sp>
      <p:pic>
        <p:nvPicPr>
          <p:cNvPr id="10" name="FaReact" descr="preencoded.png">    </p:cNvPr>
          <p:cNvPicPr>
            <a:picLocks noChangeAspect="1"/>
          </p:cNvPicPr>
          <p:nvPr/>
        </p:nvPicPr>
        <p:blipFill>
          <a:blip r:embed="rId2"/>
          <a:stretch>
            <a:fillRect/>
          </a:stretch>
        </p:blipFill>
        <p:spPr>
          <a:xfrm>
            <a:off x="4720133" y="1766621"/>
            <a:ext cx="307238" cy="307238"/>
          </a:xfrm>
          <a:prstGeom prst="rect">
            <a:avLst/>
          </a:prstGeom>
        </p:spPr>
      </p:pic>
      <p:sp>
        <p:nvSpPr>
          <p:cNvPr id="11" name="Text 7"/>
          <p:cNvSpPr txBox="1"/>
          <p:nvPr/>
        </p:nvSpPr>
        <p:spPr>
          <a:xfrm>
            <a:off x="4599432" y="2331720"/>
            <a:ext cx="2953512" cy="365760"/>
          </a:xfrm>
          <a:prstGeom prst="rect">
            <a:avLst/>
          </a:prstGeom>
          <a:noFill/>
          <a:ln/>
        </p:spPr>
        <p:txBody>
          <a:bodyPr wrap="square" lIns="0" tIns="0" rIns="0" bIns="0" rtlCol="0" anchor="ctr"/>
          <a:lstStyle/>
          <a:p>
            <a:pPr indent="0" marL="0">
              <a:buNone/>
            </a:pPr>
            <a:r>
              <a:rPr lang="en-US" sz="1800" b="1" dirty="0">
                <a:solidFill>
                  <a:schemeClr val="tx1"/>
                </a:solidFill>
              </a:rPr>
              <a:t>Frontend image</a:t>
            </a:r>
            <a:endParaRPr lang="en-US" sz="1800" dirty="0"/>
          </a:p>
        </p:txBody>
      </p:sp>
      <p:sp>
        <p:nvSpPr>
          <p:cNvPr id="12" name="Text 8"/>
          <p:cNvSpPr txBox="1"/>
          <p:nvPr/>
        </p:nvSpPr>
        <p:spPr>
          <a:xfrm>
            <a:off x="4599432" y="2788920"/>
            <a:ext cx="3044952"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Stage 1: node:24-alpine runs vite build</a:t>
            </a:r>
            <a:endParaRPr lang="en-US" sz="1400" dirty="0"/>
          </a:p>
          <a:p>
            <a:pPr marL="342900" indent="-342900">
              <a:spcAft>
                <a:spcPts val="600"/>
              </a:spcAft>
              <a:buSzPct val="100000"/>
              <a:buChar char="•"/>
            </a:pPr>
            <a:r>
              <a:rPr lang="en-US" sz="1400" dirty="0">
                <a:solidFill>
                  <a:schemeClr val="tx1"/>
                </a:solidFill>
              </a:rPr>
              <a:t>Stage 2: nginx-unprivileged serves dist/</a:t>
            </a:r>
            <a:endParaRPr lang="en-US" sz="1400" dirty="0"/>
          </a:p>
          <a:p>
            <a:pPr marL="342900" indent="-342900">
              <a:spcAft>
                <a:spcPts val="600"/>
              </a:spcAft>
              <a:buSzPct val="100000"/>
              <a:buChar char="•"/>
            </a:pPr>
            <a:r>
              <a:rPr lang="en-US" sz="1400" dirty="0">
                <a:solidFill>
                  <a:schemeClr val="tx1"/>
                </a:solidFill>
              </a:rPr>
              <a:t>Proxies /api to the backend</a:t>
            </a:r>
            <a:endParaRPr lang="en-US" sz="1400" dirty="0"/>
          </a:p>
        </p:txBody>
      </p:sp>
      <p:sp>
        <p:nvSpPr>
          <p:cNvPr id="13" name="docker compose up --build card"/>
          <p:cNvSpPr/>
          <p:nvPr/>
        </p:nvSpPr>
        <p:spPr>
          <a:xfrm>
            <a:off x="8101584" y="1371600"/>
            <a:ext cx="3502152" cy="3017520"/>
          </a:xfrm>
          <a:prstGeom prst="roundRect">
            <a:avLst>
              <a:gd name="adj" fmla="val 3030"/>
            </a:avLst>
          </a:prstGeom>
          <a:solidFill>
            <a:schemeClr val="bg2"/>
          </a:solidFill>
          <a:ln/>
        </p:spPr>
      </p:sp>
      <p:sp>
        <p:nvSpPr>
          <p:cNvPr id="14" name="icon tile"/>
          <p:cNvSpPr/>
          <p:nvPr/>
        </p:nvSpPr>
        <p:spPr>
          <a:xfrm>
            <a:off x="8375904" y="1645920"/>
            <a:ext cx="548640" cy="548640"/>
          </a:xfrm>
          <a:prstGeom prst="roundRect">
            <a:avLst>
              <a:gd name="adj" fmla="val 20000"/>
            </a:avLst>
          </a:prstGeom>
          <a:solidFill>
            <a:schemeClr val="accent1"/>
          </a:solidFill>
          <a:ln/>
        </p:spPr>
      </p:sp>
      <p:pic>
        <p:nvPicPr>
          <p:cNvPr id="15" name="FaDocker" descr="preencoded.png">    </p:cNvPr>
          <p:cNvPicPr>
            <a:picLocks noChangeAspect="1"/>
          </p:cNvPicPr>
          <p:nvPr/>
        </p:nvPicPr>
        <p:blipFill>
          <a:blip r:embed="rId3"/>
          <a:stretch>
            <a:fillRect/>
          </a:stretch>
        </p:blipFill>
        <p:spPr>
          <a:xfrm>
            <a:off x="8496605" y="1766621"/>
            <a:ext cx="307238" cy="307238"/>
          </a:xfrm>
          <a:prstGeom prst="rect">
            <a:avLst/>
          </a:prstGeom>
        </p:spPr>
      </p:pic>
      <p:sp>
        <p:nvSpPr>
          <p:cNvPr id="16" name="Text 11"/>
          <p:cNvSpPr txBox="1"/>
          <p:nvPr/>
        </p:nvSpPr>
        <p:spPr>
          <a:xfrm>
            <a:off x="8375904" y="2331720"/>
            <a:ext cx="2953512" cy="365760"/>
          </a:xfrm>
          <a:prstGeom prst="rect">
            <a:avLst/>
          </a:prstGeom>
          <a:noFill/>
          <a:ln/>
        </p:spPr>
        <p:txBody>
          <a:bodyPr wrap="square" lIns="0" tIns="0" rIns="0" bIns="0" rtlCol="0" anchor="ctr"/>
          <a:lstStyle/>
          <a:p>
            <a:pPr indent="0" marL="0">
              <a:buNone/>
            </a:pPr>
            <a:r>
              <a:rPr lang="en-US" sz="1800" b="1" dirty="0">
                <a:solidFill>
                  <a:schemeClr val="tx1"/>
                </a:solidFill>
              </a:rPr>
              <a:t>docker compose up --build</a:t>
            </a:r>
            <a:endParaRPr lang="en-US" sz="1800" dirty="0"/>
          </a:p>
        </p:txBody>
      </p:sp>
      <p:sp>
        <p:nvSpPr>
          <p:cNvPr id="17" name="Text 12"/>
          <p:cNvSpPr txBox="1"/>
          <p:nvPr/>
        </p:nvSpPr>
        <p:spPr>
          <a:xfrm>
            <a:off x="8375904" y="2788920"/>
            <a:ext cx="3044952"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frontend on localhost:3000</a:t>
            </a:r>
            <a:endParaRPr lang="en-US" sz="1400" dirty="0"/>
          </a:p>
          <a:p>
            <a:pPr marL="342900" indent="-342900">
              <a:spcAft>
                <a:spcPts val="600"/>
              </a:spcAft>
              <a:buSzPct val="100000"/>
              <a:buChar char="•"/>
            </a:pPr>
            <a:r>
              <a:rPr lang="en-US" sz="1400" dirty="0">
                <a:solidFill>
                  <a:schemeClr val="tx1"/>
                </a:solidFill>
              </a:rPr>
              <a:t>backend on :8000 with health checks</a:t>
            </a:r>
            <a:endParaRPr lang="en-US" sz="1400" dirty="0"/>
          </a:p>
          <a:p>
            <a:pPr marL="342900" indent="-342900">
              <a:spcAft>
                <a:spcPts val="600"/>
              </a:spcAft>
              <a:buSzPct val="100000"/>
              <a:buChar char="•"/>
            </a:pPr>
            <a:r>
              <a:rPr lang="en-US" sz="1400" dirty="0">
                <a:solidFill>
                  <a:schemeClr val="tx1"/>
                </a:solidFill>
              </a:rPr>
              <a:t>PostgreSQL 18 with a named volume</a:t>
            </a:r>
            <a:endParaRPr lang="en-US" sz="1400" dirty="0"/>
          </a:p>
        </p:txBody>
      </p:sp>
      <p:sp>
        <p:nvSpPr>
          <p:cNvPr id="18" name="Text 13"/>
          <p:cNvSpPr txBox="1"/>
          <p:nvPr/>
        </p:nvSpPr>
        <p:spPr>
          <a:xfrm>
            <a:off x="548640" y="4709160"/>
            <a:ext cx="237744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44 → 0</a:t>
            </a:r>
            <a:endParaRPr lang="en-US" sz="4800" dirty="0"/>
          </a:p>
        </p:txBody>
      </p:sp>
      <p:sp>
        <p:nvSpPr>
          <p:cNvPr id="19" name="Text 14"/>
          <p:cNvSpPr txBox="1"/>
          <p:nvPr/>
        </p:nvSpPr>
        <p:spPr>
          <a:xfrm>
            <a:off x="3108960" y="4709160"/>
            <a:ext cx="8503920" cy="914400"/>
          </a:xfrm>
          <a:prstGeom prst="rect">
            <a:avLst/>
          </a:prstGeom>
          <a:noFill/>
          <a:ln/>
        </p:spPr>
        <p:txBody>
          <a:bodyPr wrap="square" lIns="0" tIns="0" rIns="0" bIns="0" rtlCol="0" anchor="ctr"/>
          <a:lstStyle/>
          <a:p>
            <a:pPr indent="0" marL="0">
              <a:buNone/>
            </a:pPr>
            <a:r>
              <a:rPr lang="en-US" sz="1400" dirty="0">
                <a:solidFill>
                  <a:schemeClr val="tx1"/>
                </a:solidFill>
              </a:rPr>
              <a:t>HIGH CVEs in the backend image after moving from a Debian-slim base, where none had a fix, to Alpine. Ignoring unfixed CVEs would have turned the scan green while shipping all 44.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CI/CD: ten jobs from a push to a promoted release</a:t>
            </a:r>
            <a:endParaRPr lang="en-US" sz="3200" dirty="0"/>
          </a:p>
        </p:txBody>
      </p:sp>
      <p:sp>
        <p:nvSpPr>
          <p:cNvPr id="3" name="job 1"/>
          <p:cNvSpPr/>
          <p:nvPr/>
        </p:nvSpPr>
        <p:spPr>
          <a:xfrm>
            <a:off x="548640" y="1325880"/>
            <a:ext cx="2057400" cy="960120"/>
          </a:xfrm>
          <a:prstGeom prst="roundRect">
            <a:avLst>
              <a:gd name="adj" fmla="val 7619"/>
            </a:avLst>
          </a:prstGeom>
          <a:solidFill>
            <a:schemeClr val="bg2"/>
          </a:solidFill>
          <a:ln/>
        </p:spPr>
      </p:sp>
      <p:sp>
        <p:nvSpPr>
          <p:cNvPr id="4" name="Text 2"/>
          <p:cNvSpPr txBox="1"/>
          <p:nvPr/>
        </p:nvSpPr>
        <p:spPr>
          <a:xfrm>
            <a:off x="685800" y="143560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685800" y="1764792"/>
            <a:ext cx="1783080" cy="457200"/>
          </a:xfrm>
          <a:prstGeom prst="rect">
            <a:avLst/>
          </a:prstGeom>
          <a:noFill/>
          <a:ln/>
        </p:spPr>
        <p:txBody>
          <a:bodyPr wrap="square" lIns="0" tIns="0" rIns="0" bIns="0" rtlCol="0" anchor="t"/>
          <a:lstStyle/>
          <a:p>
            <a:pPr indent="0" marL="0">
              <a:buNone/>
            </a:pPr>
            <a:r>
              <a:rPr lang="en-US" sz="1250" dirty="0">
                <a:solidFill>
                  <a:schemeClr val="tx1"/>
                </a:solidFill>
              </a:rPr>
              <a:t>Test: pytest + vite build</a:t>
            </a:r>
            <a:endParaRPr lang="en-US" sz="1250" dirty="0"/>
          </a:p>
        </p:txBody>
      </p:sp>
      <p:sp>
        <p:nvSpPr>
          <p:cNvPr id="6" name="job 2"/>
          <p:cNvSpPr/>
          <p:nvPr/>
        </p:nvSpPr>
        <p:spPr>
          <a:xfrm>
            <a:off x="2800350" y="1325880"/>
            <a:ext cx="2057400" cy="960120"/>
          </a:xfrm>
          <a:prstGeom prst="roundRect">
            <a:avLst>
              <a:gd name="adj" fmla="val 7619"/>
            </a:avLst>
          </a:prstGeom>
          <a:solidFill>
            <a:schemeClr val="bg2"/>
          </a:solidFill>
          <a:ln/>
        </p:spPr>
      </p:sp>
      <p:sp>
        <p:nvSpPr>
          <p:cNvPr id="7" name="Text 5"/>
          <p:cNvSpPr txBox="1"/>
          <p:nvPr/>
        </p:nvSpPr>
        <p:spPr>
          <a:xfrm>
            <a:off x="2937510" y="143560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2</a:t>
            </a:r>
            <a:endParaRPr lang="en-US" sz="1800" dirty="0"/>
          </a:p>
        </p:txBody>
      </p:sp>
      <p:sp>
        <p:nvSpPr>
          <p:cNvPr id="8" name="Text 6"/>
          <p:cNvSpPr txBox="1"/>
          <p:nvPr/>
        </p:nvSpPr>
        <p:spPr>
          <a:xfrm>
            <a:off x="2937510" y="1764792"/>
            <a:ext cx="1783080" cy="457200"/>
          </a:xfrm>
          <a:prstGeom prst="rect">
            <a:avLst/>
          </a:prstGeom>
          <a:noFill/>
          <a:ln/>
        </p:spPr>
        <p:txBody>
          <a:bodyPr wrap="square" lIns="0" tIns="0" rIns="0" bIns="0" rtlCol="0" anchor="t"/>
          <a:lstStyle/>
          <a:p>
            <a:pPr indent="0" marL="0">
              <a:buNone/>
            </a:pPr>
            <a:r>
              <a:rPr lang="en-US" sz="1250" dirty="0">
                <a:solidFill>
                  <a:schemeClr val="tx1"/>
                </a:solidFill>
              </a:rPr>
              <a:t>SAST: Bandit, Semgrep</a:t>
            </a:r>
            <a:endParaRPr lang="en-US" sz="1250" dirty="0"/>
          </a:p>
        </p:txBody>
      </p:sp>
      <p:sp>
        <p:nvSpPr>
          <p:cNvPr id="9" name="job 3"/>
          <p:cNvSpPr/>
          <p:nvPr/>
        </p:nvSpPr>
        <p:spPr>
          <a:xfrm>
            <a:off x="5052060" y="1325880"/>
            <a:ext cx="2057400" cy="960120"/>
          </a:xfrm>
          <a:prstGeom prst="roundRect">
            <a:avLst>
              <a:gd name="adj" fmla="val 7619"/>
            </a:avLst>
          </a:prstGeom>
          <a:solidFill>
            <a:schemeClr val="bg2"/>
          </a:solidFill>
          <a:ln/>
        </p:spPr>
      </p:sp>
      <p:sp>
        <p:nvSpPr>
          <p:cNvPr id="10" name="Text 8"/>
          <p:cNvSpPr txBox="1"/>
          <p:nvPr/>
        </p:nvSpPr>
        <p:spPr>
          <a:xfrm>
            <a:off x="5189220" y="143560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3</a:t>
            </a:r>
            <a:endParaRPr lang="en-US" sz="1800" dirty="0"/>
          </a:p>
        </p:txBody>
      </p:sp>
      <p:sp>
        <p:nvSpPr>
          <p:cNvPr id="11" name="Text 9"/>
          <p:cNvSpPr txBox="1"/>
          <p:nvPr/>
        </p:nvSpPr>
        <p:spPr>
          <a:xfrm>
            <a:off x="5189220" y="1764792"/>
            <a:ext cx="1783080" cy="457200"/>
          </a:xfrm>
          <a:prstGeom prst="rect">
            <a:avLst/>
          </a:prstGeom>
          <a:noFill/>
          <a:ln/>
        </p:spPr>
        <p:txBody>
          <a:bodyPr wrap="square" lIns="0" tIns="0" rIns="0" bIns="0" rtlCol="0" anchor="t"/>
          <a:lstStyle/>
          <a:p>
            <a:pPr indent="0" marL="0">
              <a:buNone/>
            </a:pPr>
            <a:r>
              <a:rPr lang="en-US" sz="1250" dirty="0">
                <a:solidFill>
                  <a:schemeClr val="tx1"/>
                </a:solidFill>
              </a:rPr>
              <a:t>SCA + IaC: pip-audit, npm audit, Trivy</a:t>
            </a:r>
            <a:endParaRPr lang="en-US" sz="1250" dirty="0"/>
          </a:p>
        </p:txBody>
      </p:sp>
      <p:sp>
        <p:nvSpPr>
          <p:cNvPr id="12" name="job 4"/>
          <p:cNvSpPr/>
          <p:nvPr/>
        </p:nvSpPr>
        <p:spPr>
          <a:xfrm>
            <a:off x="7303770" y="1325880"/>
            <a:ext cx="2057400" cy="960120"/>
          </a:xfrm>
          <a:prstGeom prst="roundRect">
            <a:avLst>
              <a:gd name="adj" fmla="val 7619"/>
            </a:avLst>
          </a:prstGeom>
          <a:solidFill>
            <a:schemeClr val="bg2"/>
          </a:solidFill>
          <a:ln/>
        </p:spPr>
      </p:sp>
      <p:sp>
        <p:nvSpPr>
          <p:cNvPr id="13" name="Text 11"/>
          <p:cNvSpPr txBox="1"/>
          <p:nvPr/>
        </p:nvSpPr>
        <p:spPr>
          <a:xfrm>
            <a:off x="7440930" y="143560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4</a:t>
            </a:r>
            <a:endParaRPr lang="en-US" sz="1800" dirty="0"/>
          </a:p>
        </p:txBody>
      </p:sp>
      <p:sp>
        <p:nvSpPr>
          <p:cNvPr id="14" name="Text 12"/>
          <p:cNvSpPr txBox="1"/>
          <p:nvPr/>
        </p:nvSpPr>
        <p:spPr>
          <a:xfrm>
            <a:off x="7440930" y="1764792"/>
            <a:ext cx="1783080" cy="457200"/>
          </a:xfrm>
          <a:prstGeom prst="rect">
            <a:avLst/>
          </a:prstGeom>
          <a:noFill/>
          <a:ln/>
        </p:spPr>
        <p:txBody>
          <a:bodyPr wrap="square" lIns="0" tIns="0" rIns="0" bIns="0" rtlCol="0" anchor="t"/>
          <a:lstStyle/>
          <a:p>
            <a:pPr indent="0" marL="0">
              <a:buNone/>
            </a:pPr>
            <a:r>
              <a:rPr lang="en-US" sz="1250" dirty="0">
                <a:solidFill>
                  <a:schemeClr val="tx1"/>
                </a:solidFill>
              </a:rPr>
              <a:t>Secrets: gitleaks</a:t>
            </a:r>
            <a:endParaRPr lang="en-US" sz="1250" dirty="0"/>
          </a:p>
        </p:txBody>
      </p:sp>
      <p:sp>
        <p:nvSpPr>
          <p:cNvPr id="15" name="job 5"/>
          <p:cNvSpPr/>
          <p:nvPr/>
        </p:nvSpPr>
        <p:spPr>
          <a:xfrm>
            <a:off x="9555480" y="1325880"/>
            <a:ext cx="2057400" cy="960120"/>
          </a:xfrm>
          <a:prstGeom prst="roundRect">
            <a:avLst>
              <a:gd name="adj" fmla="val 7619"/>
            </a:avLst>
          </a:prstGeom>
          <a:solidFill>
            <a:schemeClr val="bg2"/>
          </a:solidFill>
          <a:ln/>
        </p:spPr>
      </p:sp>
      <p:sp>
        <p:nvSpPr>
          <p:cNvPr id="16" name="Text 14"/>
          <p:cNvSpPr txBox="1"/>
          <p:nvPr/>
        </p:nvSpPr>
        <p:spPr>
          <a:xfrm>
            <a:off x="9692640" y="143560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5</a:t>
            </a:r>
            <a:endParaRPr lang="en-US" sz="1800" dirty="0"/>
          </a:p>
        </p:txBody>
      </p:sp>
      <p:sp>
        <p:nvSpPr>
          <p:cNvPr id="17" name="Text 15"/>
          <p:cNvSpPr txBox="1"/>
          <p:nvPr/>
        </p:nvSpPr>
        <p:spPr>
          <a:xfrm>
            <a:off x="9692640" y="1764792"/>
            <a:ext cx="1783080" cy="457200"/>
          </a:xfrm>
          <a:prstGeom prst="rect">
            <a:avLst/>
          </a:prstGeom>
          <a:noFill/>
          <a:ln/>
        </p:spPr>
        <p:txBody>
          <a:bodyPr wrap="square" lIns="0" tIns="0" rIns="0" bIns="0" rtlCol="0" anchor="t"/>
          <a:lstStyle/>
          <a:p>
            <a:pPr indent="0" marL="0">
              <a:buNone/>
            </a:pPr>
            <a:r>
              <a:rPr lang="en-US" sz="1250" dirty="0">
                <a:solidFill>
                  <a:schemeClr val="tx1"/>
                </a:solidFill>
              </a:rPr>
              <a:t>Docker build (both images)</a:t>
            </a:r>
            <a:endParaRPr lang="en-US" sz="1250" dirty="0"/>
          </a:p>
        </p:txBody>
      </p:sp>
      <p:sp>
        <p:nvSpPr>
          <p:cNvPr id="18" name="job 6"/>
          <p:cNvSpPr/>
          <p:nvPr/>
        </p:nvSpPr>
        <p:spPr>
          <a:xfrm>
            <a:off x="548640" y="2560320"/>
            <a:ext cx="2057400" cy="960120"/>
          </a:xfrm>
          <a:prstGeom prst="roundRect">
            <a:avLst>
              <a:gd name="adj" fmla="val 7619"/>
            </a:avLst>
          </a:prstGeom>
          <a:solidFill>
            <a:schemeClr val="bg2"/>
          </a:solidFill>
          <a:ln/>
        </p:spPr>
      </p:sp>
      <p:sp>
        <p:nvSpPr>
          <p:cNvPr id="19" name="Text 17"/>
          <p:cNvSpPr txBox="1"/>
          <p:nvPr/>
        </p:nvSpPr>
        <p:spPr>
          <a:xfrm>
            <a:off x="685800" y="267004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6</a:t>
            </a:r>
            <a:endParaRPr lang="en-US" sz="1800" dirty="0"/>
          </a:p>
        </p:txBody>
      </p:sp>
      <p:sp>
        <p:nvSpPr>
          <p:cNvPr id="20" name="Text 18"/>
          <p:cNvSpPr txBox="1"/>
          <p:nvPr/>
        </p:nvSpPr>
        <p:spPr>
          <a:xfrm>
            <a:off x="685800" y="2999232"/>
            <a:ext cx="1783080" cy="457200"/>
          </a:xfrm>
          <a:prstGeom prst="rect">
            <a:avLst/>
          </a:prstGeom>
          <a:noFill/>
          <a:ln/>
        </p:spPr>
        <p:txBody>
          <a:bodyPr wrap="square" lIns="0" tIns="0" rIns="0" bIns="0" rtlCol="0" anchor="t"/>
          <a:lstStyle/>
          <a:p>
            <a:pPr indent="0" marL="0">
              <a:buNone/>
            </a:pPr>
            <a:r>
              <a:rPr lang="en-US" sz="1250" dirty="0">
                <a:solidFill>
                  <a:schemeClr val="tx1"/>
                </a:solidFill>
              </a:rPr>
              <a:t>Image scan: Trivy</a:t>
            </a:r>
            <a:endParaRPr lang="en-US" sz="1250" dirty="0"/>
          </a:p>
        </p:txBody>
      </p:sp>
      <p:sp>
        <p:nvSpPr>
          <p:cNvPr id="21" name="job 7"/>
          <p:cNvSpPr/>
          <p:nvPr/>
        </p:nvSpPr>
        <p:spPr>
          <a:xfrm>
            <a:off x="2800350" y="2560320"/>
            <a:ext cx="2057400" cy="960120"/>
          </a:xfrm>
          <a:prstGeom prst="roundRect">
            <a:avLst>
              <a:gd name="adj" fmla="val 7619"/>
            </a:avLst>
          </a:prstGeom>
          <a:solidFill>
            <a:schemeClr val="accent2"/>
          </a:solidFill>
          <a:ln/>
        </p:spPr>
      </p:sp>
      <p:sp>
        <p:nvSpPr>
          <p:cNvPr id="22" name="Text 20"/>
          <p:cNvSpPr txBox="1"/>
          <p:nvPr/>
        </p:nvSpPr>
        <p:spPr>
          <a:xfrm>
            <a:off x="2937510" y="2670048"/>
            <a:ext cx="457200" cy="3657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7</a:t>
            </a:r>
            <a:endParaRPr lang="en-US" sz="1800" dirty="0"/>
          </a:p>
        </p:txBody>
      </p:sp>
      <p:sp>
        <p:nvSpPr>
          <p:cNvPr id="23" name="Text 21"/>
          <p:cNvSpPr txBox="1"/>
          <p:nvPr/>
        </p:nvSpPr>
        <p:spPr>
          <a:xfrm>
            <a:off x="2937510" y="2999232"/>
            <a:ext cx="1783080" cy="457200"/>
          </a:xfrm>
          <a:prstGeom prst="rect">
            <a:avLst/>
          </a:prstGeom>
          <a:noFill/>
          <a:ln/>
        </p:spPr>
        <p:txBody>
          <a:bodyPr wrap="square" lIns="0" tIns="0" rIns="0" bIns="0" rtlCol="0" anchor="t"/>
          <a:lstStyle/>
          <a:p>
            <a:pPr indent="0" marL="0">
              <a:buNone/>
            </a:pPr>
            <a:r>
              <a:rPr lang="en-US" sz="1250" b="1" dirty="0">
                <a:solidFill>
                  <a:schemeClr val="bg1"/>
                </a:solidFill>
              </a:rPr>
              <a:t>Security gate</a:t>
            </a:r>
            <a:endParaRPr lang="en-US" sz="1250" dirty="0"/>
          </a:p>
        </p:txBody>
      </p:sp>
      <p:sp>
        <p:nvSpPr>
          <p:cNvPr id="24" name="job 8"/>
          <p:cNvSpPr/>
          <p:nvPr/>
        </p:nvSpPr>
        <p:spPr>
          <a:xfrm>
            <a:off x="5052060" y="2560320"/>
            <a:ext cx="2057400" cy="960120"/>
          </a:xfrm>
          <a:prstGeom prst="roundRect">
            <a:avLst>
              <a:gd name="adj" fmla="val 7619"/>
            </a:avLst>
          </a:prstGeom>
          <a:solidFill>
            <a:schemeClr val="bg2"/>
          </a:solidFill>
          <a:ln/>
        </p:spPr>
      </p:sp>
      <p:sp>
        <p:nvSpPr>
          <p:cNvPr id="25" name="Text 23"/>
          <p:cNvSpPr txBox="1"/>
          <p:nvPr/>
        </p:nvSpPr>
        <p:spPr>
          <a:xfrm>
            <a:off x="5189220" y="267004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8</a:t>
            </a:r>
            <a:endParaRPr lang="en-US" sz="1800" dirty="0"/>
          </a:p>
        </p:txBody>
      </p:sp>
      <p:sp>
        <p:nvSpPr>
          <p:cNvPr id="26" name="Text 24"/>
          <p:cNvSpPr txBox="1"/>
          <p:nvPr/>
        </p:nvSpPr>
        <p:spPr>
          <a:xfrm>
            <a:off x="5189220" y="2999232"/>
            <a:ext cx="1783080" cy="457200"/>
          </a:xfrm>
          <a:prstGeom prst="rect">
            <a:avLst/>
          </a:prstGeom>
          <a:noFill/>
          <a:ln/>
        </p:spPr>
        <p:txBody>
          <a:bodyPr wrap="square" lIns="0" tIns="0" rIns="0" bIns="0" rtlCol="0" anchor="t"/>
          <a:lstStyle/>
          <a:p>
            <a:pPr indent="0" marL="0">
              <a:buNone/>
            </a:pPr>
            <a:r>
              <a:rPr lang="en-US" sz="1250" dirty="0">
                <a:solidFill>
                  <a:schemeClr val="tx1"/>
                </a:solidFill>
              </a:rPr>
              <a:t>Push to GHCR as :&lt;SHA&gt;</a:t>
            </a:r>
            <a:endParaRPr lang="en-US" sz="1250" dirty="0"/>
          </a:p>
        </p:txBody>
      </p:sp>
      <p:sp>
        <p:nvSpPr>
          <p:cNvPr id="27" name="job 9"/>
          <p:cNvSpPr/>
          <p:nvPr/>
        </p:nvSpPr>
        <p:spPr>
          <a:xfrm>
            <a:off x="7303770" y="2560320"/>
            <a:ext cx="2057400" cy="960120"/>
          </a:xfrm>
          <a:prstGeom prst="roundRect">
            <a:avLst>
              <a:gd name="adj" fmla="val 7619"/>
            </a:avLst>
          </a:prstGeom>
          <a:solidFill>
            <a:schemeClr val="bg2"/>
          </a:solidFill>
          <a:ln/>
        </p:spPr>
      </p:sp>
      <p:sp>
        <p:nvSpPr>
          <p:cNvPr id="28" name="Text 26"/>
          <p:cNvSpPr txBox="1"/>
          <p:nvPr/>
        </p:nvSpPr>
        <p:spPr>
          <a:xfrm>
            <a:off x="7440930" y="267004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9</a:t>
            </a:r>
            <a:endParaRPr lang="en-US" sz="1800" dirty="0"/>
          </a:p>
        </p:txBody>
      </p:sp>
      <p:sp>
        <p:nvSpPr>
          <p:cNvPr id="29" name="Text 27"/>
          <p:cNvSpPr txBox="1"/>
          <p:nvPr/>
        </p:nvSpPr>
        <p:spPr>
          <a:xfrm>
            <a:off x="7440930" y="2999232"/>
            <a:ext cx="1783080" cy="457200"/>
          </a:xfrm>
          <a:prstGeom prst="rect">
            <a:avLst/>
          </a:prstGeom>
          <a:noFill/>
          <a:ln/>
        </p:spPr>
        <p:txBody>
          <a:bodyPr wrap="square" lIns="0" tIns="0" rIns="0" bIns="0" rtlCol="0" anchor="t"/>
          <a:lstStyle/>
          <a:p>
            <a:pPr indent="0" marL="0">
              <a:buNone/>
            </a:pPr>
            <a:r>
              <a:rPr lang="en-US" sz="1250" dirty="0">
                <a:solidFill>
                  <a:schemeClr val="tx1"/>
                </a:solidFill>
              </a:rPr>
              <a:t>Helm install on kind</a:t>
            </a:r>
            <a:endParaRPr lang="en-US" sz="1250" dirty="0"/>
          </a:p>
        </p:txBody>
      </p:sp>
      <p:sp>
        <p:nvSpPr>
          <p:cNvPr id="30" name="job 10"/>
          <p:cNvSpPr/>
          <p:nvPr/>
        </p:nvSpPr>
        <p:spPr>
          <a:xfrm>
            <a:off x="9555480" y="2560320"/>
            <a:ext cx="2057400" cy="960120"/>
          </a:xfrm>
          <a:prstGeom prst="roundRect">
            <a:avLst>
              <a:gd name="adj" fmla="val 7619"/>
            </a:avLst>
          </a:prstGeom>
          <a:solidFill>
            <a:schemeClr val="bg2"/>
          </a:solidFill>
          <a:ln/>
        </p:spPr>
      </p:sp>
      <p:sp>
        <p:nvSpPr>
          <p:cNvPr id="31" name="Text 29"/>
          <p:cNvSpPr txBox="1"/>
          <p:nvPr/>
        </p:nvSpPr>
        <p:spPr>
          <a:xfrm>
            <a:off x="9692640" y="2670048"/>
            <a:ext cx="457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10</a:t>
            </a:r>
            <a:endParaRPr lang="en-US" sz="1800" dirty="0"/>
          </a:p>
        </p:txBody>
      </p:sp>
      <p:sp>
        <p:nvSpPr>
          <p:cNvPr id="32" name="Text 30"/>
          <p:cNvSpPr txBox="1"/>
          <p:nvPr/>
        </p:nvSpPr>
        <p:spPr>
          <a:xfrm>
            <a:off x="9692640" y="2999232"/>
            <a:ext cx="1783080" cy="457200"/>
          </a:xfrm>
          <a:prstGeom prst="rect">
            <a:avLst/>
          </a:prstGeom>
          <a:noFill/>
          <a:ln/>
        </p:spPr>
        <p:txBody>
          <a:bodyPr wrap="square" lIns="0" tIns="0" rIns="0" bIns="0" rtlCol="0" anchor="t"/>
          <a:lstStyle/>
          <a:p>
            <a:pPr indent="0" marL="0">
              <a:buNone/>
            </a:pPr>
            <a:r>
              <a:rPr lang="en-US" sz="1250" dirty="0">
                <a:solidFill>
                  <a:schemeClr val="tx1"/>
                </a:solidFill>
              </a:rPr>
              <a:t>GitOps promote</a:t>
            </a:r>
            <a:endParaRPr lang="en-US" sz="1250" dirty="0"/>
          </a:p>
        </p:txBody>
      </p:sp>
      <p:sp>
        <p:nvSpPr>
          <p:cNvPr id="33" name="Text 31"/>
          <p:cNvSpPr txBox="1"/>
          <p:nvPr/>
        </p:nvSpPr>
        <p:spPr>
          <a:xfrm>
            <a:off x="548640" y="3931920"/>
            <a:ext cx="11064240" cy="320040"/>
          </a:xfrm>
          <a:prstGeom prst="rect">
            <a:avLst/>
          </a:prstGeom>
          <a:noFill/>
          <a:ln/>
        </p:spPr>
        <p:txBody>
          <a:bodyPr wrap="square" lIns="0" tIns="0" rIns="0" bIns="0" rtlCol="0" anchor="ctr"/>
          <a:lstStyle/>
          <a:p>
            <a:pPr indent="0" marL="0">
              <a:buNone/>
            </a:pPr>
            <a:r>
              <a:rPr lang="en-US" sz="1200" i="1" dirty="0">
                <a:solidFill>
                  <a:schemeClr val="accent5"/>
                </a:solidFill>
              </a:rPr>
              <a:t>A real run on GitHub Actions, commit dbbdd49, 4 min 26 s end to end</a:t>
            </a:r>
            <a:endParaRPr lang="en-US" sz="1200" dirty="0"/>
          </a:p>
        </p:txBody>
      </p:sp>
      <p:sp>
        <p:nvSpPr>
          <p:cNvPr id="34" name="Pipeline graph frame"/>
          <p:cNvSpPr/>
          <p:nvPr/>
        </p:nvSpPr>
        <p:spPr>
          <a:xfrm>
            <a:off x="548640" y="4297680"/>
            <a:ext cx="11064240" cy="853135"/>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35" name="Pipeline graph" descr="Pipeline graph">    </p:cNvPr>
          <p:cNvPicPr>
            <a:picLocks noChangeAspect="1"/>
          </p:cNvPicPr>
          <p:nvPr/>
        </p:nvPicPr>
        <p:blipFill>
          <a:blip r:embed="rId1"/>
          <a:stretch>
            <a:fillRect/>
          </a:stretch>
        </p:blipFill>
        <p:spPr>
          <a:xfrm>
            <a:off x="548640" y="4297680"/>
            <a:ext cx="11064240" cy="853135"/>
          </a:xfrm>
          <a:prstGeom prst="rect">
            <a:avLst/>
          </a:prstGeom>
        </p:spPr>
      </p:pic>
      <p:sp>
        <p:nvSpPr>
          <p:cNvPr id="36" name="Text 33"/>
          <p:cNvSpPr txBox="1"/>
          <p:nvPr/>
        </p:nvSpPr>
        <p:spPr>
          <a:xfrm>
            <a:off x="548640" y="5394960"/>
            <a:ext cx="11064240" cy="640080"/>
          </a:xfrm>
          <a:prstGeom prst="rect">
            <a:avLst/>
          </a:prstGeom>
          <a:noFill/>
          <a:ln/>
        </p:spPr>
        <p:txBody>
          <a:bodyPr wrap="square" lIns="0" tIns="0" rIns="0" bIns="0" rtlCol="0" anchor="t"/>
          <a:lstStyle/>
          <a:p>
            <a:pPr indent="0" marL="0">
              <a:buNone/>
            </a:pPr>
            <a:r>
              <a:rPr lang="en-US" sz="1400" b="1" dirty="0">
                <a:solidFill>
                  <a:schemeClr val="tx1"/>
                </a:solidFill>
              </a:rPr>
              <a:t>Triggers: </a:t>
            </a:r>
            <a:pPr indent="0" marL="0">
              <a:buNone/>
            </a:pPr>
            <a:r>
              <a:rPr lang="en-US" sz="1400" dirty="0">
                <a:solidFill>
                  <a:schemeClr val="tx1"/>
                </a:solidFill>
              </a:rPr>
              <a:t>every push to main that touches the project, plus pull requests.   </a:t>
            </a:r>
            <a:pPr indent="0" marL="0">
              <a:buNone/>
            </a:pPr>
            <a:r>
              <a:rPr lang="en-US" sz="1400" b="1" dirty="0">
                <a:solidFill>
                  <a:schemeClr val="tx1"/>
                </a:solidFill>
              </a:rPr>
              <a:t>Tags: </a:t>
            </a:r>
            <a:pPr indent="0" marL="0">
              <a:buNone/>
            </a:pPr>
            <a:r>
              <a:rPr lang="en-US" sz="1400" dirty="0">
                <a:solidFill>
                  <a:schemeClr val="tx1"/>
                </a:solidFill>
              </a:rPr>
              <a:t>ghcr.io/saptak-cyber/clinicdesk-{backend,frontend}:&lt;commit SHA&gt;, never latest.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DevSecOps: nine reports, one gate that fails closed</a:t>
            </a:r>
            <a:endParaRPr lang="en-US" sz="3200" dirty="0"/>
          </a:p>
        </p:txBody>
      </p:sp>
      <p:sp>
        <p:nvSpPr>
          <p:cNvPr id="3" name="icon tile"/>
          <p:cNvSpPr/>
          <p:nvPr/>
        </p:nvSpPr>
        <p:spPr>
          <a:xfrm>
            <a:off x="548640" y="1325880"/>
            <a:ext cx="457200" cy="457200"/>
          </a:xfrm>
          <a:prstGeom prst="roundRect">
            <a:avLst>
              <a:gd name="adj" fmla="val 24000"/>
            </a:avLst>
          </a:prstGeom>
          <a:solidFill>
            <a:schemeClr val="accent1"/>
          </a:solidFill>
          <a:ln/>
        </p:spPr>
      </p:sp>
      <p:pic>
        <p:nvPicPr>
          <p:cNvPr id="4" name="FaCode" descr="preencoded.png">    </p:cNvPr>
          <p:cNvPicPr>
            <a:picLocks noChangeAspect="1"/>
          </p:cNvPicPr>
          <p:nvPr/>
        </p:nvPicPr>
        <p:blipFill>
          <a:blip r:embed="rId1"/>
          <a:stretch>
            <a:fillRect/>
          </a:stretch>
        </p:blipFill>
        <p:spPr>
          <a:xfrm>
            <a:off x="649224" y="1426464"/>
            <a:ext cx="256032" cy="256032"/>
          </a:xfrm>
          <a:prstGeom prst="rect">
            <a:avLst/>
          </a:prstGeom>
        </p:spPr>
      </p:pic>
      <p:sp>
        <p:nvSpPr>
          <p:cNvPr id="5" name="Text 2"/>
          <p:cNvSpPr txBox="1"/>
          <p:nvPr/>
        </p:nvSpPr>
        <p:spPr>
          <a:xfrm>
            <a:off x="1143000" y="1325880"/>
            <a:ext cx="3291840" cy="457200"/>
          </a:xfrm>
          <a:prstGeom prst="rect">
            <a:avLst/>
          </a:prstGeom>
          <a:noFill/>
          <a:ln/>
        </p:spPr>
        <p:txBody>
          <a:bodyPr wrap="square" lIns="0" tIns="0" rIns="0" bIns="0" rtlCol="0" anchor="ctr"/>
          <a:lstStyle/>
          <a:p>
            <a:pPr indent="0" marL="0">
              <a:buNone/>
            </a:pPr>
            <a:r>
              <a:rPr lang="en-US" sz="1400" b="1" dirty="0">
                <a:solidFill>
                  <a:schemeClr val="tx1"/>
                </a:solidFill>
              </a:rPr>
              <a:t>SAST  </a:t>
            </a:r>
            <a:pPr indent="0" marL="0">
              <a:buNone/>
            </a:pPr>
            <a:r>
              <a:rPr lang="en-US" sz="1400" dirty="0">
                <a:solidFill>
                  <a:schemeClr val="tx1"/>
                </a:solidFill>
              </a:rPr>
              <a:t>Bandit, Semgrep</a:t>
            </a:r>
            <a:endParaRPr lang="en-US" sz="1400" dirty="0"/>
          </a:p>
        </p:txBody>
      </p:sp>
      <p:sp>
        <p:nvSpPr>
          <p:cNvPr id="6" name="icon tile"/>
          <p:cNvSpPr/>
          <p:nvPr/>
        </p:nvSpPr>
        <p:spPr>
          <a:xfrm>
            <a:off x="548640" y="1984248"/>
            <a:ext cx="457200" cy="457200"/>
          </a:xfrm>
          <a:prstGeom prst="roundRect">
            <a:avLst>
              <a:gd name="adj" fmla="val 24000"/>
            </a:avLst>
          </a:prstGeom>
          <a:solidFill>
            <a:schemeClr val="accent1"/>
          </a:solidFill>
          <a:ln/>
        </p:spPr>
      </p:sp>
      <p:pic>
        <p:nvPicPr>
          <p:cNvPr id="7" name="FaBoxOpen" descr="preencoded.png">    </p:cNvPr>
          <p:cNvPicPr>
            <a:picLocks noChangeAspect="1"/>
          </p:cNvPicPr>
          <p:nvPr/>
        </p:nvPicPr>
        <p:blipFill>
          <a:blip r:embed="rId2"/>
          <a:stretch>
            <a:fillRect/>
          </a:stretch>
        </p:blipFill>
        <p:spPr>
          <a:xfrm>
            <a:off x="649224" y="2084832"/>
            <a:ext cx="256032" cy="256032"/>
          </a:xfrm>
          <a:prstGeom prst="rect">
            <a:avLst/>
          </a:prstGeom>
        </p:spPr>
      </p:pic>
      <p:sp>
        <p:nvSpPr>
          <p:cNvPr id="8" name="Text 4"/>
          <p:cNvSpPr txBox="1"/>
          <p:nvPr/>
        </p:nvSpPr>
        <p:spPr>
          <a:xfrm>
            <a:off x="1143000" y="1984248"/>
            <a:ext cx="3291840" cy="457200"/>
          </a:xfrm>
          <a:prstGeom prst="rect">
            <a:avLst/>
          </a:prstGeom>
          <a:noFill/>
          <a:ln/>
        </p:spPr>
        <p:txBody>
          <a:bodyPr wrap="square" lIns="0" tIns="0" rIns="0" bIns="0" rtlCol="0" anchor="ctr"/>
          <a:lstStyle/>
          <a:p>
            <a:pPr indent="0" marL="0">
              <a:buNone/>
            </a:pPr>
            <a:r>
              <a:rPr lang="en-US" sz="1400" b="1" dirty="0">
                <a:solidFill>
                  <a:schemeClr val="tx1"/>
                </a:solidFill>
              </a:rPr>
              <a:t>SCA  </a:t>
            </a:r>
            <a:pPr indent="0" marL="0">
              <a:buNone/>
            </a:pPr>
            <a:r>
              <a:rPr lang="en-US" sz="1400" dirty="0">
                <a:solidFill>
                  <a:schemeClr val="tx1"/>
                </a:solidFill>
              </a:rPr>
              <a:t>pip-audit, npm audit, Trivy fs</a:t>
            </a:r>
            <a:endParaRPr lang="en-US" sz="1400" dirty="0"/>
          </a:p>
        </p:txBody>
      </p:sp>
      <p:sp>
        <p:nvSpPr>
          <p:cNvPr id="9" name="icon tile"/>
          <p:cNvSpPr/>
          <p:nvPr/>
        </p:nvSpPr>
        <p:spPr>
          <a:xfrm>
            <a:off x="548640" y="2642616"/>
            <a:ext cx="457200" cy="457200"/>
          </a:xfrm>
          <a:prstGeom prst="roundRect">
            <a:avLst>
              <a:gd name="adj" fmla="val 24000"/>
            </a:avLst>
          </a:prstGeom>
          <a:solidFill>
            <a:schemeClr val="accent1"/>
          </a:solidFill>
          <a:ln/>
        </p:spPr>
      </p:sp>
      <p:pic>
        <p:nvPicPr>
          <p:cNvPr id="10" name="FaFileCode" descr="preencoded.png">    </p:cNvPr>
          <p:cNvPicPr>
            <a:picLocks noChangeAspect="1"/>
          </p:cNvPicPr>
          <p:nvPr/>
        </p:nvPicPr>
        <p:blipFill>
          <a:blip r:embed="rId3"/>
          <a:stretch>
            <a:fillRect/>
          </a:stretch>
        </p:blipFill>
        <p:spPr>
          <a:xfrm>
            <a:off x="649224" y="2743200"/>
            <a:ext cx="256032" cy="256032"/>
          </a:xfrm>
          <a:prstGeom prst="rect">
            <a:avLst/>
          </a:prstGeom>
        </p:spPr>
      </p:pic>
      <p:sp>
        <p:nvSpPr>
          <p:cNvPr id="11" name="Text 6"/>
          <p:cNvSpPr txBox="1"/>
          <p:nvPr/>
        </p:nvSpPr>
        <p:spPr>
          <a:xfrm>
            <a:off x="1143000" y="2642616"/>
            <a:ext cx="3291840" cy="457200"/>
          </a:xfrm>
          <a:prstGeom prst="rect">
            <a:avLst/>
          </a:prstGeom>
          <a:noFill/>
          <a:ln/>
        </p:spPr>
        <p:txBody>
          <a:bodyPr wrap="square" lIns="0" tIns="0" rIns="0" bIns="0" rtlCol="0" anchor="ctr"/>
          <a:lstStyle/>
          <a:p>
            <a:pPr indent="0" marL="0">
              <a:buNone/>
            </a:pPr>
            <a:r>
              <a:rPr lang="en-US" sz="1400" b="1" dirty="0">
                <a:solidFill>
                  <a:schemeClr val="tx1"/>
                </a:solidFill>
              </a:rPr>
              <a:t>IaC  </a:t>
            </a:r>
            <a:pPr indent="0" marL="0">
              <a:buNone/>
            </a:pPr>
            <a:r>
              <a:rPr lang="en-US" sz="1400" dirty="0">
                <a:solidFill>
                  <a:schemeClr val="tx1"/>
                </a:solidFill>
              </a:rPr>
              <a:t>Trivy config on K8s, Helm, Terraform</a:t>
            </a:r>
            <a:endParaRPr lang="en-US" sz="1400" dirty="0"/>
          </a:p>
        </p:txBody>
      </p:sp>
      <p:sp>
        <p:nvSpPr>
          <p:cNvPr id="12" name="icon tile"/>
          <p:cNvSpPr/>
          <p:nvPr/>
        </p:nvSpPr>
        <p:spPr>
          <a:xfrm>
            <a:off x="548640" y="3300984"/>
            <a:ext cx="457200" cy="457200"/>
          </a:xfrm>
          <a:prstGeom prst="roundRect">
            <a:avLst>
              <a:gd name="adj" fmla="val 24000"/>
            </a:avLst>
          </a:prstGeom>
          <a:solidFill>
            <a:schemeClr val="accent1"/>
          </a:solidFill>
          <a:ln/>
        </p:spPr>
      </p:sp>
      <p:pic>
        <p:nvPicPr>
          <p:cNvPr id="13" name="FaKey" descr="preencoded.png">    </p:cNvPr>
          <p:cNvPicPr>
            <a:picLocks noChangeAspect="1"/>
          </p:cNvPicPr>
          <p:nvPr/>
        </p:nvPicPr>
        <p:blipFill>
          <a:blip r:embed="rId4"/>
          <a:stretch>
            <a:fillRect/>
          </a:stretch>
        </p:blipFill>
        <p:spPr>
          <a:xfrm>
            <a:off x="649224" y="3401568"/>
            <a:ext cx="256032" cy="256032"/>
          </a:xfrm>
          <a:prstGeom prst="rect">
            <a:avLst/>
          </a:prstGeom>
        </p:spPr>
      </p:pic>
      <p:sp>
        <p:nvSpPr>
          <p:cNvPr id="14" name="Text 8"/>
          <p:cNvSpPr txBox="1"/>
          <p:nvPr/>
        </p:nvSpPr>
        <p:spPr>
          <a:xfrm>
            <a:off x="1143000" y="3300984"/>
            <a:ext cx="3291840" cy="457200"/>
          </a:xfrm>
          <a:prstGeom prst="rect">
            <a:avLst/>
          </a:prstGeom>
          <a:noFill/>
          <a:ln/>
        </p:spPr>
        <p:txBody>
          <a:bodyPr wrap="square" lIns="0" tIns="0" rIns="0" bIns="0" rtlCol="0" anchor="ctr"/>
          <a:lstStyle/>
          <a:p>
            <a:pPr indent="0" marL="0">
              <a:buNone/>
            </a:pPr>
            <a:r>
              <a:rPr lang="en-US" sz="1400" b="1" dirty="0">
                <a:solidFill>
                  <a:schemeClr val="tx1"/>
                </a:solidFill>
              </a:rPr>
              <a:t>Secrets  </a:t>
            </a:r>
            <a:pPr indent="0" marL="0">
              <a:buNone/>
            </a:pPr>
            <a:r>
              <a:rPr lang="en-US" sz="1400" dirty="0">
                <a:solidFill>
                  <a:schemeClr val="tx1"/>
                </a:solidFill>
              </a:rPr>
              <a:t>gitleaks, full history</a:t>
            </a:r>
            <a:endParaRPr lang="en-US" sz="1400" dirty="0"/>
          </a:p>
        </p:txBody>
      </p:sp>
      <p:sp>
        <p:nvSpPr>
          <p:cNvPr id="15" name="icon tile"/>
          <p:cNvSpPr/>
          <p:nvPr/>
        </p:nvSpPr>
        <p:spPr>
          <a:xfrm>
            <a:off x="548640" y="3959352"/>
            <a:ext cx="457200" cy="457200"/>
          </a:xfrm>
          <a:prstGeom prst="roundRect">
            <a:avLst>
              <a:gd name="adj" fmla="val 24000"/>
            </a:avLst>
          </a:prstGeom>
          <a:solidFill>
            <a:schemeClr val="accent1"/>
          </a:solidFill>
          <a:ln/>
        </p:spPr>
      </p:sp>
      <p:pic>
        <p:nvPicPr>
          <p:cNvPr id="16" name="FaLayerGroup" descr="preencoded.png">    </p:cNvPr>
          <p:cNvPicPr>
            <a:picLocks noChangeAspect="1"/>
          </p:cNvPicPr>
          <p:nvPr/>
        </p:nvPicPr>
        <p:blipFill>
          <a:blip r:embed="rId5"/>
          <a:stretch>
            <a:fillRect/>
          </a:stretch>
        </p:blipFill>
        <p:spPr>
          <a:xfrm>
            <a:off x="649224" y="4059936"/>
            <a:ext cx="256032" cy="256032"/>
          </a:xfrm>
          <a:prstGeom prst="rect">
            <a:avLst/>
          </a:prstGeom>
        </p:spPr>
      </p:pic>
      <p:sp>
        <p:nvSpPr>
          <p:cNvPr id="17" name="Text 10"/>
          <p:cNvSpPr txBox="1"/>
          <p:nvPr/>
        </p:nvSpPr>
        <p:spPr>
          <a:xfrm>
            <a:off x="1143000" y="3959352"/>
            <a:ext cx="3291840" cy="457200"/>
          </a:xfrm>
          <a:prstGeom prst="rect">
            <a:avLst/>
          </a:prstGeom>
          <a:noFill/>
          <a:ln/>
        </p:spPr>
        <p:txBody>
          <a:bodyPr wrap="square" lIns="0" tIns="0" rIns="0" bIns="0" rtlCol="0" anchor="ctr"/>
          <a:lstStyle/>
          <a:p>
            <a:pPr indent="0" marL="0">
              <a:buNone/>
            </a:pPr>
            <a:r>
              <a:rPr lang="en-US" sz="1400" b="1" dirty="0">
                <a:solidFill>
                  <a:schemeClr val="tx1"/>
                </a:solidFill>
              </a:rPr>
              <a:t>Images  </a:t>
            </a:r>
            <a:pPr indent="0" marL="0">
              <a:buNone/>
            </a:pPr>
            <a:r>
              <a:rPr lang="en-US" sz="1400" dirty="0">
                <a:solidFill>
                  <a:schemeClr val="tx1"/>
                </a:solidFill>
              </a:rPr>
              <a:t>Trivy on both images</a:t>
            </a:r>
            <a:endParaRPr lang="en-US" sz="1400" dirty="0"/>
          </a:p>
        </p:txBody>
      </p:sp>
      <p:sp>
        <p:nvSpPr>
          <p:cNvPr id="18" name="to gate"/>
          <p:cNvSpPr/>
          <p:nvPr/>
        </p:nvSpPr>
        <p:spPr>
          <a:xfrm>
            <a:off x="4526280" y="2606040"/>
            <a:ext cx="548640" cy="548640"/>
          </a:xfrm>
          <a:prstGeom prst="rightArrow">
            <a:avLst/>
          </a:prstGeom>
          <a:solidFill>
            <a:schemeClr val="accent5"/>
          </a:solidFill>
          <a:ln/>
        </p:spPr>
      </p:sp>
      <p:sp>
        <p:nvSpPr>
          <p:cNvPr id="19" name="gate"/>
          <p:cNvSpPr/>
          <p:nvPr/>
        </p:nvSpPr>
        <p:spPr>
          <a:xfrm>
            <a:off x="5212080" y="1920240"/>
            <a:ext cx="2377440" cy="1920240"/>
          </a:xfrm>
          <a:prstGeom prst="roundRect">
            <a:avLst>
              <a:gd name="adj" fmla="val 4762"/>
            </a:avLst>
          </a:prstGeom>
          <a:solidFill>
            <a:schemeClr val="accent2"/>
          </a:solidFill>
          <a:ln/>
        </p:spPr>
        <p:txBody>
          <a:bodyPr wrap="square" lIns="127000" tIns="127000" rIns="127000" bIns="127000" rtlCol="0" anchor="ctr"/>
          <a:lstStyle/>
          <a:p>
            <a:pPr indent="0" marL="0">
              <a:buNone/>
            </a:pPr>
            <a:r>
              <a:rPr lang="en-US" sz="1800" b="1" dirty="0">
                <a:solidFill>
                  <a:schemeClr val="bg1"/>
                </a:solidFill>
              </a:rPr>
              <a:t>Security gate</a:t>
            </a:r>
            <a:endParaRPr lang="en-US" sz="1800" dirty="0"/>
          </a:p>
          <a:p>
            <a:pPr indent="0" marL="0">
              <a:buNone/>
            </a:pPr>
            <a:r>
              <a:rPr lang="en-US" sz="1300" dirty="0">
                <a:solidFill>
                  <a:schemeClr val="bg1"/>
                </a:solidFill>
              </a:rPr>
              <a:t>security_gate.py applies gate-policy.toml to every report. A missing report fails.</a:t>
            </a:r>
            <a:endParaRPr lang="en-US" sz="1800" dirty="0"/>
          </a:p>
        </p:txBody>
      </p:sp>
      <p:sp>
        <p:nvSpPr>
          <p:cNvPr id="20" name="Text 13"/>
          <p:cNvSpPr txBox="1"/>
          <p:nvPr/>
        </p:nvSpPr>
        <p:spPr>
          <a:xfrm>
            <a:off x="8046720" y="1325880"/>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What Trivy found</a:t>
            </a:r>
            <a:endParaRPr lang="en-US" sz="1800" dirty="0"/>
          </a:p>
        </p:txBody>
      </p:sp>
      <p:sp>
        <p:nvSpPr>
          <p:cNvPr id="21" name="Text 14"/>
          <p:cNvSpPr txBox="1"/>
          <p:nvPr/>
        </p:nvSpPr>
        <p:spPr>
          <a:xfrm>
            <a:off x="8046720" y="1783080"/>
            <a:ext cx="3566160" cy="3291840"/>
          </a:xfrm>
          <a:prstGeom prst="rect">
            <a:avLst/>
          </a:prstGeom>
          <a:noFill/>
          <a:ln/>
        </p:spPr>
        <p:txBody>
          <a:bodyPr wrap="square" lIns="0" tIns="0" rIns="0" bIns="0" rtlCol="0" anchor="t"/>
          <a:lstStyle/>
          <a:p>
            <a:pPr indent="0" marL="0">
              <a:buNone/>
            </a:pPr>
            <a:r>
              <a:rPr lang="en-US" sz="1400" dirty="0">
                <a:solidFill>
                  <a:schemeClr val="tx1"/>
                </a:solidFill>
              </a:rPr>
              <a:t>Trivy scanned both images' OS packages and their Python and npm libraries. The final run had 0 HIGH and 0 CRITICAL, so the gate passed.</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1"/>
                </a:solidFill>
              </a:rPr>
              <a:t>Findings fixed on the way: </a:t>
            </a:r>
            <a:pPr indent="0" marL="0">
              <a:buNone/>
            </a:pPr>
            <a:r>
              <a:rPr lang="en-US" sz="1400" dirty="0">
                <a:solidFill>
                  <a:schemeClr val="tx1"/>
                </a:solidFill>
              </a:rPr>
              <a:t>44 unfixable HIGH CVEs in Debian-slim (removed by moving to Alpine), Bandit B608 f-string SQL in a migration, and a writable root filesystem on PostgreSQL.</a:t>
            </a:r>
            <a:endParaRPr lang="en-US" sz="1400" dirty="0"/>
          </a:p>
        </p:txBody>
      </p:sp>
      <p:sp>
        <p:nvSpPr>
          <p:cNvPr id="22" name="gate verdict"/>
          <p:cNvSpPr/>
          <p:nvPr/>
        </p:nvSpPr>
        <p:spPr>
          <a:xfrm>
            <a:off x="548640" y="4846320"/>
            <a:ext cx="11064240" cy="1005840"/>
          </a:xfrm>
          <a:prstGeom prst="roundRect">
            <a:avLst>
              <a:gd name="adj" fmla="val 9091"/>
            </a:avLst>
          </a:prstGeom>
          <a:solidFill>
            <a:schemeClr val="bg2"/>
          </a:solidFill>
          <a:ln/>
        </p:spPr>
      </p:sp>
      <p:sp>
        <p:nvSpPr>
          <p:cNvPr id="23" name="icon tile"/>
          <p:cNvSpPr/>
          <p:nvPr/>
        </p:nvSpPr>
        <p:spPr>
          <a:xfrm>
            <a:off x="777240" y="5074920"/>
            <a:ext cx="548640" cy="548640"/>
          </a:xfrm>
          <a:prstGeom prst="roundRect">
            <a:avLst>
              <a:gd name="adj" fmla="val 20000"/>
            </a:avLst>
          </a:prstGeom>
          <a:solidFill>
            <a:schemeClr val="accent1"/>
          </a:solidFill>
          <a:ln/>
        </p:spPr>
      </p:sp>
      <p:pic>
        <p:nvPicPr>
          <p:cNvPr id="24" name="FaCheck" descr="preencoded.png">    </p:cNvPr>
          <p:cNvPicPr>
            <a:picLocks noChangeAspect="1"/>
          </p:cNvPicPr>
          <p:nvPr/>
        </p:nvPicPr>
        <p:blipFill>
          <a:blip r:embed="rId6"/>
          <a:stretch>
            <a:fillRect/>
          </a:stretch>
        </p:blipFill>
        <p:spPr>
          <a:xfrm>
            <a:off x="897941" y="5195621"/>
            <a:ext cx="307238" cy="307238"/>
          </a:xfrm>
          <a:prstGeom prst="rect">
            <a:avLst/>
          </a:prstGeom>
        </p:spPr>
      </p:pic>
      <p:sp>
        <p:nvSpPr>
          <p:cNvPr id="25" name="Text 17"/>
          <p:cNvSpPr txBox="1"/>
          <p:nvPr/>
        </p:nvSpPr>
        <p:spPr>
          <a:xfrm>
            <a:off x="1554480" y="4937760"/>
            <a:ext cx="9875520" cy="822960"/>
          </a:xfrm>
          <a:prstGeom prst="rect">
            <a:avLst/>
          </a:prstGeom>
          <a:noFill/>
          <a:ln/>
        </p:spPr>
        <p:txBody>
          <a:bodyPr wrap="square" lIns="0" tIns="0" rIns="0" bIns="0" rtlCol="0" anchor="ctr"/>
          <a:lstStyle/>
          <a:p>
            <a:pPr indent="0" marL="0">
              <a:buNone/>
            </a:pPr>
            <a:r>
              <a:rPr lang="en-US" sz="1400" b="1" dirty="0">
                <a:solidFill>
                  <a:schemeClr val="tx1"/>
                </a:solidFill>
              </a:rPr>
              <a:t>Gate verdict on the live-demo run: </a:t>
            </a:r>
            <a:pPr indent="0" marL="0">
              <a:buNone/>
            </a:pPr>
            <a:r>
              <a:rPr lang="en-US" sz="1400" dirty="0">
                <a:solidFill>
                  <a:schemeClr val="tx1"/>
                </a:solidFill>
              </a:rPr>
              <a:t>all nine checks PASS, SECURITY GATE: PASSED. Any HIGH or CRITICAL finding fails the build before an image is pushed.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Terraform builds the AWS foundation in one apply</a:t>
            </a:r>
            <a:endParaRPr lang="en-US" sz="3200" dirty="0"/>
          </a:p>
        </p:txBody>
      </p:sp>
      <p:sp>
        <p:nvSpPr>
          <p:cNvPr id="3" name="Text 1"/>
          <p:cNvSpPr txBox="1"/>
          <p:nvPr/>
        </p:nvSpPr>
        <p:spPr>
          <a:xfrm>
            <a:off x="548640" y="1325880"/>
            <a:ext cx="16916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61</a:t>
            </a:r>
            <a:endParaRPr lang="en-US" sz="3600" dirty="0"/>
          </a:p>
        </p:txBody>
      </p:sp>
      <p:sp>
        <p:nvSpPr>
          <p:cNvPr id="4" name="Text 2"/>
          <p:cNvSpPr txBox="1"/>
          <p:nvPr/>
        </p:nvSpPr>
        <p:spPr>
          <a:xfrm>
            <a:off x="548640" y="2057400"/>
            <a:ext cx="1463040" cy="685800"/>
          </a:xfrm>
          <a:prstGeom prst="rect">
            <a:avLst/>
          </a:prstGeom>
          <a:noFill/>
          <a:ln/>
        </p:spPr>
        <p:txBody>
          <a:bodyPr wrap="square" lIns="0" tIns="0" rIns="0" bIns="0" rtlCol="0" anchor="t"/>
          <a:lstStyle/>
          <a:p>
            <a:pPr indent="0" marL="0">
              <a:buNone/>
            </a:pPr>
            <a:r>
              <a:rPr lang="en-US" sz="1200" dirty="0">
                <a:solidFill>
                  <a:schemeClr val="tx1"/>
                </a:solidFill>
              </a:rPr>
              <a:t>resources created</a:t>
            </a:r>
            <a:endParaRPr lang="en-US" sz="1200" dirty="0"/>
          </a:p>
        </p:txBody>
      </p:sp>
      <p:sp>
        <p:nvSpPr>
          <p:cNvPr id="5" name="Text 3"/>
          <p:cNvSpPr txBox="1"/>
          <p:nvPr/>
        </p:nvSpPr>
        <p:spPr>
          <a:xfrm>
            <a:off x="2286000" y="1325880"/>
            <a:ext cx="16916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14 min</a:t>
            </a:r>
            <a:endParaRPr lang="en-US" sz="3600" dirty="0"/>
          </a:p>
        </p:txBody>
      </p:sp>
      <p:sp>
        <p:nvSpPr>
          <p:cNvPr id="6" name="Text 4"/>
          <p:cNvSpPr txBox="1"/>
          <p:nvPr/>
        </p:nvSpPr>
        <p:spPr>
          <a:xfrm>
            <a:off x="2286000" y="2057400"/>
            <a:ext cx="1463040" cy="685800"/>
          </a:xfrm>
          <a:prstGeom prst="rect">
            <a:avLst/>
          </a:prstGeom>
          <a:noFill/>
          <a:ln/>
        </p:spPr>
        <p:txBody>
          <a:bodyPr wrap="square" lIns="0" tIns="0" rIns="0" bIns="0" rtlCol="0" anchor="t"/>
          <a:lstStyle/>
          <a:p>
            <a:pPr indent="0" marL="0">
              <a:buNone/>
            </a:pPr>
            <a:r>
              <a:rPr lang="en-US" sz="1200" dirty="0">
                <a:solidFill>
                  <a:schemeClr val="tx1"/>
                </a:solidFill>
              </a:rPr>
              <a:t>apply, 9 of it the EKS control plane</a:t>
            </a:r>
            <a:endParaRPr lang="en-US" sz="1200" dirty="0"/>
          </a:p>
        </p:txBody>
      </p:sp>
      <p:sp>
        <p:nvSpPr>
          <p:cNvPr id="7" name="Text 5"/>
          <p:cNvSpPr txBox="1"/>
          <p:nvPr/>
        </p:nvSpPr>
        <p:spPr>
          <a:xfrm>
            <a:off x="4023360" y="1325880"/>
            <a:ext cx="16916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a:t>
            </a:r>
            <a:endParaRPr lang="en-US" sz="3600" dirty="0"/>
          </a:p>
        </p:txBody>
      </p:sp>
      <p:sp>
        <p:nvSpPr>
          <p:cNvPr id="8" name="Text 6"/>
          <p:cNvSpPr txBox="1"/>
          <p:nvPr/>
        </p:nvSpPr>
        <p:spPr>
          <a:xfrm>
            <a:off x="4023360" y="2057400"/>
            <a:ext cx="1463040" cy="685800"/>
          </a:xfrm>
          <a:prstGeom prst="rect">
            <a:avLst/>
          </a:prstGeom>
          <a:noFill/>
          <a:ln/>
        </p:spPr>
        <p:txBody>
          <a:bodyPr wrap="square" lIns="0" tIns="0" rIns="0" bIns="0" rtlCol="0" anchor="t"/>
          <a:lstStyle/>
          <a:p>
            <a:pPr indent="0" marL="0">
              <a:buNone/>
            </a:pPr>
            <a:r>
              <a:rPr lang="en-US" sz="1200" dirty="0">
                <a:solidFill>
                  <a:schemeClr val="tx1"/>
                </a:solidFill>
              </a:rPr>
              <a:t>resources left after destroy</a:t>
            </a:r>
            <a:endParaRPr lang="en-US" sz="1200" dirty="0"/>
          </a:p>
        </p:txBody>
      </p:sp>
      <p:sp>
        <p:nvSpPr>
          <p:cNvPr id="9" name="Text 7"/>
          <p:cNvSpPr txBox="1"/>
          <p:nvPr/>
        </p:nvSpPr>
        <p:spPr>
          <a:xfrm>
            <a:off x="548640" y="2926080"/>
            <a:ext cx="47548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VPC 10.42.0.0/16: 2 public + 2 private subnets across ap-south-1a and 1b, one NAT gateway</a:t>
            </a:r>
            <a:endParaRPr lang="en-US" sz="1400" dirty="0"/>
          </a:p>
          <a:p>
            <a:pPr marL="342900" indent="-342900">
              <a:spcAft>
                <a:spcPts val="800"/>
              </a:spcAft>
              <a:buSzPct val="100000"/>
              <a:buChar char="•"/>
            </a:pPr>
            <a:r>
              <a:rPr lang="en-US" sz="1400" dirty="0">
                <a:solidFill>
                  <a:schemeClr val="tx1"/>
                </a:solidFill>
              </a:rPr>
              <a:t>EKS 1.36, managed node group of t3.medium (min 1, desired 2, max 3) in private subnets</a:t>
            </a:r>
            <a:endParaRPr lang="en-US" sz="1400" dirty="0"/>
          </a:p>
          <a:p>
            <a:pPr marL="342900" indent="-342900">
              <a:spcAft>
                <a:spcPts val="800"/>
              </a:spcAft>
              <a:buSzPct val="100000"/>
              <a:buChar char="•"/>
            </a:pPr>
            <a:r>
              <a:rPr lang="en-US" sz="1400" dirty="0">
                <a:solidFill>
                  <a:schemeClr val="tx1"/>
                </a:solidFill>
              </a:rPr>
              <a:t>Add-ons: VPC CNI, CoreDNS, kube-proxy, metrics-server, EBS CSI via Pod Identity</a:t>
            </a:r>
            <a:endParaRPr lang="en-US" sz="1400" dirty="0"/>
          </a:p>
          <a:p>
            <a:pPr marL="342900" indent="-342900">
              <a:buSzPct val="100000"/>
              <a:buChar char="•"/>
            </a:pPr>
            <a:r>
              <a:rPr lang="en-US" sz="1400" dirty="0">
                <a:solidFill>
                  <a:schemeClr val="tx1"/>
                </a:solidFill>
              </a:rPr>
              <a:t>Only terraform.tfvars.example is committed; no credentials in Git</a:t>
            </a:r>
            <a:endParaRPr lang="en-US" sz="1400" dirty="0"/>
          </a:p>
        </p:txBody>
      </p:sp>
      <p:sp>
        <p:nvSpPr>
          <p:cNvPr id="10" name="AWS console EKS cluster frame"/>
          <p:cNvSpPr/>
          <p:nvPr/>
        </p:nvSpPr>
        <p:spPr>
          <a:xfrm>
            <a:off x="5669280" y="1371600"/>
            <a:ext cx="5943600" cy="3419856"/>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11" name="AWS console EKS cluster" descr="AWS console EKS cluster">    </p:cNvPr>
          <p:cNvPicPr>
            <a:picLocks noChangeAspect="1"/>
          </p:cNvPicPr>
          <p:nvPr/>
        </p:nvPicPr>
        <p:blipFill>
          <a:blip r:embed="rId1"/>
          <a:stretch>
            <a:fillRect/>
          </a:stretch>
        </p:blipFill>
        <p:spPr>
          <a:xfrm>
            <a:off x="5669280" y="1371600"/>
            <a:ext cx="5943600" cy="3419856"/>
          </a:xfrm>
          <a:prstGeom prst="rect">
            <a:avLst/>
          </a:prstGeom>
        </p:spPr>
      </p:pic>
      <p:sp>
        <p:nvSpPr>
          <p:cNvPr id="12" name="Text 9"/>
          <p:cNvSpPr txBox="1"/>
          <p:nvPr/>
        </p:nvSpPr>
        <p:spPr>
          <a:xfrm>
            <a:off x="5669280" y="4937760"/>
            <a:ext cx="5943600" cy="320040"/>
          </a:xfrm>
          <a:prstGeom prst="rect">
            <a:avLst/>
          </a:prstGeom>
          <a:noFill/>
          <a:ln/>
        </p:spPr>
        <p:txBody>
          <a:bodyPr wrap="square" lIns="0" tIns="0" rIns="0" bIns="0" rtlCol="0" anchor="ctr"/>
          <a:lstStyle/>
          <a:p>
            <a:pPr indent="0" marL="0">
              <a:buNone/>
            </a:pPr>
            <a:r>
              <a:rPr lang="en-US" sz="1100" i="1" dirty="0">
                <a:solidFill>
                  <a:schemeClr val="accent5"/>
                </a:solidFill>
              </a:rPr>
              <a:t>clinicdesk-eks Active in Asia Pacific (Mumbai): 2 nodes, 5 add-ons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Kubernetes and Helm: one chart for dev, prod and EKS</a:t>
            </a:r>
            <a:endParaRPr lang="en-US" sz="3200" dirty="0"/>
          </a:p>
        </p:txBody>
      </p:sp>
      <p:sp>
        <p:nvSpPr>
          <p:cNvPr id="3" name="ClinicDesk on EKS via Ingress frame"/>
          <p:cNvSpPr/>
          <p:nvPr/>
        </p:nvSpPr>
        <p:spPr>
          <a:xfrm>
            <a:off x="548640" y="1371600"/>
            <a:ext cx="5852160" cy="3657600"/>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4" name="ClinicDesk on EKS via Ingress" descr="ClinicDesk on EKS via Ingress">    </p:cNvPr>
          <p:cNvPicPr>
            <a:picLocks noChangeAspect="1"/>
          </p:cNvPicPr>
          <p:nvPr/>
        </p:nvPicPr>
        <p:blipFill>
          <a:blip r:embed="rId1"/>
          <a:stretch>
            <a:fillRect/>
          </a:stretch>
        </p:blipFill>
        <p:spPr>
          <a:xfrm>
            <a:off x="548640" y="1371600"/>
            <a:ext cx="5852160" cy="3657600"/>
          </a:xfrm>
          <a:prstGeom prst="rect">
            <a:avLst/>
          </a:prstGeom>
        </p:spPr>
      </p:pic>
      <p:sp>
        <p:nvSpPr>
          <p:cNvPr id="5" name="Text 2"/>
          <p:cNvSpPr txBox="1"/>
          <p:nvPr/>
        </p:nvSpPr>
        <p:spPr>
          <a:xfrm>
            <a:off x="548640" y="5120640"/>
            <a:ext cx="5852160" cy="320040"/>
          </a:xfrm>
          <a:prstGeom prst="rect">
            <a:avLst/>
          </a:prstGeom>
          <a:noFill/>
          <a:ln/>
        </p:spPr>
        <p:txBody>
          <a:bodyPr wrap="square" lIns="0" tIns="0" rIns="0" bIns="0" rtlCol="0" anchor="ctr"/>
          <a:lstStyle/>
          <a:p>
            <a:pPr indent="0" marL="0">
              <a:buNone/>
            </a:pPr>
            <a:r>
              <a:rPr lang="en-US" sz="1100" i="1" dirty="0">
                <a:solidFill>
                  <a:schemeClr val="accent5"/>
                </a:solidFill>
              </a:rPr>
              <a:t>The app on EKS, reached through the ingress-nginx NLB</a:t>
            </a:r>
            <a:endParaRPr lang="en-US" sz="1100" dirty="0"/>
          </a:p>
        </p:txBody>
      </p:sp>
      <p:sp>
        <p:nvSpPr>
          <p:cNvPr id="6" name="icon tile"/>
          <p:cNvSpPr/>
          <p:nvPr/>
        </p:nvSpPr>
        <p:spPr>
          <a:xfrm>
            <a:off x="6766560" y="1371600"/>
            <a:ext cx="457200" cy="457200"/>
          </a:xfrm>
          <a:prstGeom prst="roundRect">
            <a:avLst>
              <a:gd name="adj" fmla="val 24000"/>
            </a:avLst>
          </a:prstGeom>
          <a:solidFill>
            <a:schemeClr val="accent1"/>
          </a:solidFill>
          <a:ln/>
        </p:spPr>
      </p:sp>
      <p:pic>
        <p:nvPicPr>
          <p:cNvPr id="7" name="FaLock" descr="preencoded.png">    </p:cNvPr>
          <p:cNvPicPr>
            <a:picLocks noChangeAspect="1"/>
          </p:cNvPicPr>
          <p:nvPr/>
        </p:nvPicPr>
        <p:blipFill>
          <a:blip r:embed="rId2"/>
          <a:stretch>
            <a:fillRect/>
          </a:stretch>
        </p:blipFill>
        <p:spPr>
          <a:xfrm>
            <a:off x="6867144" y="1472184"/>
            <a:ext cx="256032" cy="256032"/>
          </a:xfrm>
          <a:prstGeom prst="rect">
            <a:avLst/>
          </a:prstGeom>
        </p:spPr>
      </p:pic>
      <p:sp>
        <p:nvSpPr>
          <p:cNvPr id="8" name="Text 4"/>
          <p:cNvSpPr txBox="1"/>
          <p:nvPr/>
        </p:nvSpPr>
        <p:spPr>
          <a:xfrm>
            <a:off x="7360920" y="1325880"/>
            <a:ext cx="4251960" cy="777240"/>
          </a:xfrm>
          <a:prstGeom prst="rect">
            <a:avLst/>
          </a:prstGeom>
          <a:noFill/>
          <a:ln/>
        </p:spPr>
        <p:txBody>
          <a:bodyPr wrap="square" lIns="0" tIns="0" rIns="0" bIns="0" rtlCol="0" anchor="t"/>
          <a:lstStyle/>
          <a:p>
            <a:pPr indent="0" marL="0">
              <a:buNone/>
            </a:pPr>
            <a:r>
              <a:rPr lang="en-US" sz="1350" b="1" dirty="0">
                <a:solidFill>
                  <a:schemeClr val="tx1"/>
                </a:solidFill>
              </a:rPr>
              <a:t>Namespace</a:t>
            </a:r>
            <a:endParaRPr lang="en-US" sz="1350" dirty="0"/>
          </a:p>
          <a:p>
            <a:pPr indent="0" marL="0">
              <a:buNone/>
            </a:pPr>
            <a:r>
              <a:rPr lang="en-US" sz="1350" dirty="0">
                <a:solidFill>
                  <a:schemeClr val="tx1"/>
                </a:solidFill>
              </a:rPr>
              <a:t>clinicdesk with restricted Pod Security</a:t>
            </a:r>
            <a:endParaRPr lang="en-US" sz="1350" dirty="0"/>
          </a:p>
        </p:txBody>
      </p:sp>
      <p:sp>
        <p:nvSpPr>
          <p:cNvPr id="9" name="icon tile"/>
          <p:cNvSpPr/>
          <p:nvPr/>
        </p:nvSpPr>
        <p:spPr>
          <a:xfrm>
            <a:off x="6766560" y="2212848"/>
            <a:ext cx="457200" cy="457200"/>
          </a:xfrm>
          <a:prstGeom prst="roundRect">
            <a:avLst>
              <a:gd name="adj" fmla="val 24000"/>
            </a:avLst>
          </a:prstGeom>
          <a:solidFill>
            <a:schemeClr val="accent1"/>
          </a:solidFill>
          <a:ln/>
        </p:spPr>
      </p:sp>
      <p:pic>
        <p:nvPicPr>
          <p:cNvPr id="10" name="FaClone" descr="preencoded.png">    </p:cNvPr>
          <p:cNvPicPr>
            <a:picLocks noChangeAspect="1"/>
          </p:cNvPicPr>
          <p:nvPr/>
        </p:nvPicPr>
        <p:blipFill>
          <a:blip r:embed="rId3"/>
          <a:stretch>
            <a:fillRect/>
          </a:stretch>
        </p:blipFill>
        <p:spPr>
          <a:xfrm>
            <a:off x="6867144" y="2313432"/>
            <a:ext cx="256032" cy="256032"/>
          </a:xfrm>
          <a:prstGeom prst="rect">
            <a:avLst/>
          </a:prstGeom>
        </p:spPr>
      </p:pic>
      <p:sp>
        <p:nvSpPr>
          <p:cNvPr id="11" name="Text 6"/>
          <p:cNvSpPr txBox="1"/>
          <p:nvPr/>
        </p:nvSpPr>
        <p:spPr>
          <a:xfrm>
            <a:off x="7360920" y="2167128"/>
            <a:ext cx="4251960" cy="777240"/>
          </a:xfrm>
          <a:prstGeom prst="rect">
            <a:avLst/>
          </a:prstGeom>
          <a:noFill/>
          <a:ln/>
        </p:spPr>
        <p:txBody>
          <a:bodyPr wrap="square" lIns="0" tIns="0" rIns="0" bIns="0" rtlCol="0" anchor="t"/>
          <a:lstStyle/>
          <a:p>
            <a:pPr indent="0" marL="0">
              <a:buNone/>
            </a:pPr>
            <a:r>
              <a:rPr lang="en-US" sz="1350" b="1" dirty="0">
                <a:solidFill>
                  <a:schemeClr val="tx1"/>
                </a:solidFill>
              </a:rPr>
              <a:t>Deployments</a:t>
            </a:r>
            <a:endParaRPr lang="en-US" sz="1350" dirty="0"/>
          </a:p>
          <a:p>
            <a:pPr indent="0" marL="0">
              <a:buNone/>
            </a:pPr>
            <a:r>
              <a:rPr lang="en-US" sz="1350" dirty="0">
                <a:solidFill>
                  <a:schemeClr val="tx1"/>
                </a:solidFill>
              </a:rPr>
              <a:t>frontend and backend, 2 replicas each; backend HPA 2–5 at 60% CPU</a:t>
            </a:r>
            <a:endParaRPr lang="en-US" sz="1350" dirty="0"/>
          </a:p>
        </p:txBody>
      </p:sp>
      <p:sp>
        <p:nvSpPr>
          <p:cNvPr id="12" name="icon tile"/>
          <p:cNvSpPr/>
          <p:nvPr/>
        </p:nvSpPr>
        <p:spPr>
          <a:xfrm>
            <a:off x="6766560" y="3054096"/>
            <a:ext cx="457200" cy="457200"/>
          </a:xfrm>
          <a:prstGeom prst="roundRect">
            <a:avLst>
              <a:gd name="adj" fmla="val 24000"/>
            </a:avLst>
          </a:prstGeom>
          <a:solidFill>
            <a:schemeClr val="accent1"/>
          </a:solidFill>
          <a:ln/>
        </p:spPr>
      </p:sp>
      <p:pic>
        <p:nvPicPr>
          <p:cNvPr id="13" name="FaRoute" descr="preencoded.png">    </p:cNvPr>
          <p:cNvPicPr>
            <a:picLocks noChangeAspect="1"/>
          </p:cNvPicPr>
          <p:nvPr/>
        </p:nvPicPr>
        <p:blipFill>
          <a:blip r:embed="rId4"/>
          <a:stretch>
            <a:fillRect/>
          </a:stretch>
        </p:blipFill>
        <p:spPr>
          <a:xfrm>
            <a:off x="6867144" y="3154680"/>
            <a:ext cx="256032" cy="256032"/>
          </a:xfrm>
          <a:prstGeom prst="rect">
            <a:avLst/>
          </a:prstGeom>
        </p:spPr>
      </p:pic>
      <p:sp>
        <p:nvSpPr>
          <p:cNvPr id="14" name="Text 8"/>
          <p:cNvSpPr txBox="1"/>
          <p:nvPr/>
        </p:nvSpPr>
        <p:spPr>
          <a:xfrm>
            <a:off x="7360920" y="3008376"/>
            <a:ext cx="4251960" cy="777240"/>
          </a:xfrm>
          <a:prstGeom prst="rect">
            <a:avLst/>
          </a:prstGeom>
          <a:noFill/>
          <a:ln/>
        </p:spPr>
        <p:txBody>
          <a:bodyPr wrap="square" lIns="0" tIns="0" rIns="0" bIns="0" rtlCol="0" anchor="t"/>
          <a:lstStyle/>
          <a:p>
            <a:pPr indent="0" marL="0">
              <a:buNone/>
            </a:pPr>
            <a:r>
              <a:rPr lang="en-US" sz="1350" b="1" dirty="0">
                <a:solidFill>
                  <a:schemeClr val="tx1"/>
                </a:solidFill>
              </a:rPr>
              <a:t>Services + Ingress</a:t>
            </a:r>
            <a:endParaRPr lang="en-US" sz="1350" dirty="0"/>
          </a:p>
          <a:p>
            <a:pPr indent="0" marL="0">
              <a:buNone/>
            </a:pPr>
            <a:r>
              <a:rPr lang="en-US" sz="1350" dirty="0">
                <a:solidFill>
                  <a:schemeClr val="tx1"/>
                </a:solidFill>
              </a:rPr>
              <a:t>ClusterIP Services; Ingress sends / to frontend, /api to backend</a:t>
            </a:r>
            <a:endParaRPr lang="en-US" sz="1350" dirty="0"/>
          </a:p>
        </p:txBody>
      </p:sp>
      <p:sp>
        <p:nvSpPr>
          <p:cNvPr id="15" name="icon tile"/>
          <p:cNvSpPr/>
          <p:nvPr/>
        </p:nvSpPr>
        <p:spPr>
          <a:xfrm>
            <a:off x="6766560" y="3895344"/>
            <a:ext cx="457200" cy="457200"/>
          </a:xfrm>
          <a:prstGeom prst="roundRect">
            <a:avLst>
              <a:gd name="adj" fmla="val 24000"/>
            </a:avLst>
          </a:prstGeom>
          <a:solidFill>
            <a:schemeClr val="accent1"/>
          </a:solidFill>
          <a:ln/>
        </p:spPr>
      </p:sp>
      <p:pic>
        <p:nvPicPr>
          <p:cNvPr id="16" name="FaHdd" descr="preencoded.png">    </p:cNvPr>
          <p:cNvPicPr>
            <a:picLocks noChangeAspect="1"/>
          </p:cNvPicPr>
          <p:nvPr/>
        </p:nvPicPr>
        <p:blipFill>
          <a:blip r:embed="rId5"/>
          <a:stretch>
            <a:fillRect/>
          </a:stretch>
        </p:blipFill>
        <p:spPr>
          <a:xfrm>
            <a:off x="6867144" y="3995928"/>
            <a:ext cx="256032" cy="256032"/>
          </a:xfrm>
          <a:prstGeom prst="rect">
            <a:avLst/>
          </a:prstGeom>
        </p:spPr>
      </p:pic>
      <p:sp>
        <p:nvSpPr>
          <p:cNvPr id="17" name="Text 10"/>
          <p:cNvSpPr txBox="1"/>
          <p:nvPr/>
        </p:nvSpPr>
        <p:spPr>
          <a:xfrm>
            <a:off x="7360920" y="3849624"/>
            <a:ext cx="4251960" cy="777240"/>
          </a:xfrm>
          <a:prstGeom prst="rect">
            <a:avLst/>
          </a:prstGeom>
          <a:noFill/>
          <a:ln/>
        </p:spPr>
        <p:txBody>
          <a:bodyPr wrap="square" lIns="0" tIns="0" rIns="0" bIns="0" rtlCol="0" anchor="t"/>
          <a:lstStyle/>
          <a:p>
            <a:pPr indent="0" marL="0">
              <a:buNone/>
            </a:pPr>
            <a:r>
              <a:rPr lang="en-US" sz="1350" b="1" dirty="0">
                <a:solidFill>
                  <a:schemeClr val="tx1"/>
                </a:solidFill>
              </a:rPr>
              <a:t>PostgreSQL</a:t>
            </a:r>
            <a:endParaRPr lang="en-US" sz="1350" dirty="0"/>
          </a:p>
          <a:p>
            <a:pPr indent="0" marL="0">
              <a:buNone/>
            </a:pPr>
            <a:r>
              <a:rPr lang="en-US" sz="1350" dirty="0">
                <a:solidFill>
                  <a:schemeClr val="tx1"/>
                </a:solidFill>
              </a:rPr>
              <a:t>StatefulSet with a 5 GiB gp3 PVC on EBS</a:t>
            </a:r>
            <a:endParaRPr lang="en-US" sz="1350" dirty="0"/>
          </a:p>
        </p:txBody>
      </p:sp>
      <p:sp>
        <p:nvSpPr>
          <p:cNvPr id="18" name="icon tile"/>
          <p:cNvSpPr/>
          <p:nvPr/>
        </p:nvSpPr>
        <p:spPr>
          <a:xfrm>
            <a:off x="6766560" y="4736592"/>
            <a:ext cx="457200" cy="457200"/>
          </a:xfrm>
          <a:prstGeom prst="roundRect">
            <a:avLst>
              <a:gd name="adj" fmla="val 24000"/>
            </a:avLst>
          </a:prstGeom>
          <a:solidFill>
            <a:schemeClr val="accent1"/>
          </a:solidFill>
          <a:ln/>
        </p:spPr>
      </p:sp>
      <p:pic>
        <p:nvPicPr>
          <p:cNvPr id="19" name="FaSlidersH" descr="preencoded.png">    </p:cNvPr>
          <p:cNvPicPr>
            <a:picLocks noChangeAspect="1"/>
          </p:cNvPicPr>
          <p:nvPr/>
        </p:nvPicPr>
        <p:blipFill>
          <a:blip r:embed="rId6"/>
          <a:stretch>
            <a:fillRect/>
          </a:stretch>
        </p:blipFill>
        <p:spPr>
          <a:xfrm>
            <a:off x="6867144" y="4837176"/>
            <a:ext cx="256032" cy="256032"/>
          </a:xfrm>
          <a:prstGeom prst="rect">
            <a:avLst/>
          </a:prstGeom>
        </p:spPr>
      </p:pic>
      <p:sp>
        <p:nvSpPr>
          <p:cNvPr id="20" name="Text 12"/>
          <p:cNvSpPr txBox="1"/>
          <p:nvPr/>
        </p:nvSpPr>
        <p:spPr>
          <a:xfrm>
            <a:off x="7360920" y="4690872"/>
            <a:ext cx="4251960" cy="777240"/>
          </a:xfrm>
          <a:prstGeom prst="rect">
            <a:avLst/>
          </a:prstGeom>
          <a:noFill/>
          <a:ln/>
        </p:spPr>
        <p:txBody>
          <a:bodyPr wrap="square" lIns="0" tIns="0" rIns="0" bIns="0" rtlCol="0" anchor="t"/>
          <a:lstStyle/>
          <a:p>
            <a:pPr indent="0" marL="0">
              <a:buNone/>
            </a:pPr>
            <a:r>
              <a:rPr lang="en-US" sz="1350" b="1" dirty="0">
                <a:solidFill>
                  <a:schemeClr val="tx1"/>
                </a:solidFill>
              </a:rPr>
              <a:t>Helm values</a:t>
            </a:r>
            <a:endParaRPr lang="en-US" sz="1350" dirty="0"/>
          </a:p>
          <a:p>
            <a:pPr indent="0" marL="0">
              <a:buNone/>
            </a:pPr>
            <a:r>
              <a:rPr lang="en-US" sz="1350" dirty="0">
                <a:solidFill>
                  <a:schemeClr val="tx1"/>
                </a:solidFill>
              </a:rPr>
              <a:t>values-dev, values-prod, gitops/values-eks</a:t>
            </a:r>
            <a:endParaRPr lang="en-US" sz="13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GitOps: Argo CD keeps the cluster equal to Git</a:t>
            </a:r>
            <a:endParaRPr lang="en-US" sz="3200" dirty="0"/>
          </a:p>
        </p:txBody>
      </p:sp>
      <p:sp>
        <p:nvSpPr>
          <p:cNvPr id="3" name="step 1"/>
          <p:cNvSpPr/>
          <p:nvPr/>
        </p:nvSpPr>
        <p:spPr>
          <a:xfrm>
            <a:off x="548640" y="137160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Text 2"/>
          <p:cNvSpPr txBox="1"/>
          <p:nvPr/>
        </p:nvSpPr>
        <p:spPr>
          <a:xfrm>
            <a:off x="1234440" y="1325880"/>
            <a:ext cx="4023360" cy="777240"/>
          </a:xfrm>
          <a:prstGeom prst="rect">
            <a:avLst/>
          </a:prstGeom>
          <a:noFill/>
          <a:ln/>
        </p:spPr>
        <p:txBody>
          <a:bodyPr wrap="square" lIns="0" tIns="0" rIns="0" bIns="0" rtlCol="0" anchor="t"/>
          <a:lstStyle/>
          <a:p>
            <a:pPr indent="0" marL="0">
              <a:buNone/>
            </a:pPr>
            <a:r>
              <a:rPr lang="en-US" sz="1400" b="1" dirty="0">
                <a:solidFill>
                  <a:schemeClr val="tx1"/>
                </a:solidFill>
              </a:rPr>
              <a:t>Commit</a:t>
            </a:r>
            <a:endParaRPr lang="en-US" sz="1400" dirty="0"/>
          </a:p>
          <a:p>
            <a:pPr indent="0" marL="0">
              <a:buNone/>
            </a:pPr>
            <a:r>
              <a:rPr lang="en-US" sz="1400" dirty="0">
                <a:solidFill>
                  <a:schemeClr val="tx1"/>
                </a:solidFill>
              </a:rPr>
              <a:t>ClinicDesk 1.1.0 adds opening hours to the footer</a:t>
            </a:r>
            <a:endParaRPr lang="en-US" sz="1400" dirty="0"/>
          </a:p>
        </p:txBody>
      </p:sp>
      <p:sp>
        <p:nvSpPr>
          <p:cNvPr id="5" name="Shape 3"/>
          <p:cNvSpPr/>
          <p:nvPr/>
        </p:nvSpPr>
        <p:spPr>
          <a:xfrm>
            <a:off x="800100" y="1920240"/>
            <a:ext cx="914" cy="365760"/>
          </a:xfrm>
          <a:prstGeom prst="line">
            <a:avLst/>
          </a:prstGeom>
          <a:noFill/>
          <a:ln w="19050">
            <a:solidFill>
              <a:srgbClr val="C9D8CF"/>
            </a:solidFill>
            <a:prstDash val="solid"/>
          </a:ln>
        </p:spPr>
      </p:sp>
      <p:sp>
        <p:nvSpPr>
          <p:cNvPr id="6" name="step 2"/>
          <p:cNvSpPr/>
          <p:nvPr/>
        </p:nvSpPr>
        <p:spPr>
          <a:xfrm>
            <a:off x="548640" y="23317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5"/>
          <p:cNvSpPr txBox="1"/>
          <p:nvPr/>
        </p:nvSpPr>
        <p:spPr>
          <a:xfrm>
            <a:off x="1234440" y="2286000"/>
            <a:ext cx="4023360" cy="777240"/>
          </a:xfrm>
          <a:prstGeom prst="rect">
            <a:avLst/>
          </a:prstGeom>
          <a:noFill/>
          <a:ln/>
        </p:spPr>
        <p:txBody>
          <a:bodyPr wrap="square" lIns="0" tIns="0" rIns="0" bIns="0" rtlCol="0" anchor="t"/>
          <a:lstStyle/>
          <a:p>
            <a:pPr indent="0" marL="0">
              <a:buNone/>
            </a:pPr>
            <a:r>
              <a:rPr lang="en-US" sz="1400" b="1" dirty="0">
                <a:solidFill>
                  <a:schemeClr val="tx1"/>
                </a:solidFill>
              </a:rPr>
              <a:t>Pipeline</a:t>
            </a:r>
            <a:endParaRPr lang="en-US" sz="1400" dirty="0"/>
          </a:p>
          <a:p>
            <a:pPr indent="0" marL="0">
              <a:buNone/>
            </a:pPr>
            <a:r>
              <a:rPr lang="en-US" sz="1400" dirty="0">
                <a:solidFill>
                  <a:schemeClr val="tx1"/>
                </a:solidFill>
              </a:rPr>
              <a:t>Tests, scans, gate, push dbbdd49 images to GHCR</a:t>
            </a:r>
            <a:endParaRPr lang="en-US" sz="1400" dirty="0"/>
          </a:p>
        </p:txBody>
      </p:sp>
      <p:sp>
        <p:nvSpPr>
          <p:cNvPr id="8" name="Shape 6"/>
          <p:cNvSpPr/>
          <p:nvPr/>
        </p:nvSpPr>
        <p:spPr>
          <a:xfrm>
            <a:off x="800100" y="2880360"/>
            <a:ext cx="914" cy="365760"/>
          </a:xfrm>
          <a:prstGeom prst="line">
            <a:avLst/>
          </a:prstGeom>
          <a:noFill/>
          <a:ln w="19050">
            <a:solidFill>
              <a:srgbClr val="C9D8CF"/>
            </a:solidFill>
            <a:prstDash val="solid"/>
          </a:ln>
        </p:spPr>
      </p:sp>
      <p:sp>
        <p:nvSpPr>
          <p:cNvPr id="9" name="step 3"/>
          <p:cNvSpPr/>
          <p:nvPr/>
        </p:nvSpPr>
        <p:spPr>
          <a:xfrm>
            <a:off x="548640" y="329184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Text 8"/>
          <p:cNvSpPr txBox="1"/>
          <p:nvPr/>
        </p:nvSpPr>
        <p:spPr>
          <a:xfrm>
            <a:off x="1234440" y="3246120"/>
            <a:ext cx="4023360" cy="777240"/>
          </a:xfrm>
          <a:prstGeom prst="rect">
            <a:avLst/>
          </a:prstGeom>
          <a:noFill/>
          <a:ln/>
        </p:spPr>
        <p:txBody>
          <a:bodyPr wrap="square" lIns="0" tIns="0" rIns="0" bIns="0" rtlCol="0" anchor="t"/>
          <a:lstStyle/>
          <a:p>
            <a:pPr indent="0" marL="0">
              <a:buNone/>
            </a:pPr>
            <a:r>
              <a:rPr lang="en-US" sz="1400" b="1" dirty="0">
                <a:solidFill>
                  <a:schemeClr val="tx1"/>
                </a:solidFill>
              </a:rPr>
              <a:t>Promote</a:t>
            </a:r>
            <a:endParaRPr lang="en-US" sz="1400" dirty="0"/>
          </a:p>
          <a:p>
            <a:pPr indent="0" marL="0">
              <a:buNone/>
            </a:pPr>
            <a:r>
              <a:rPr lang="en-US" sz="1400" dirty="0">
                <a:solidFill>
                  <a:schemeClr val="tx1"/>
                </a:solidFill>
              </a:rPr>
              <a:t>Bot commit sets both tags in values-eks.yaml [skip ci]</a:t>
            </a:r>
            <a:endParaRPr lang="en-US" sz="1400" dirty="0"/>
          </a:p>
        </p:txBody>
      </p:sp>
      <p:sp>
        <p:nvSpPr>
          <p:cNvPr id="11" name="Shape 9"/>
          <p:cNvSpPr/>
          <p:nvPr/>
        </p:nvSpPr>
        <p:spPr>
          <a:xfrm>
            <a:off x="800100" y="3840480"/>
            <a:ext cx="914" cy="365760"/>
          </a:xfrm>
          <a:prstGeom prst="line">
            <a:avLst/>
          </a:prstGeom>
          <a:noFill/>
          <a:ln w="19050">
            <a:solidFill>
              <a:srgbClr val="C9D8CF"/>
            </a:solidFill>
            <a:prstDash val="solid"/>
          </a:ln>
        </p:spPr>
      </p:sp>
      <p:sp>
        <p:nvSpPr>
          <p:cNvPr id="12" name="step 4"/>
          <p:cNvSpPr/>
          <p:nvPr/>
        </p:nvSpPr>
        <p:spPr>
          <a:xfrm>
            <a:off x="548640" y="425196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3" name="Text 11"/>
          <p:cNvSpPr txBox="1"/>
          <p:nvPr/>
        </p:nvSpPr>
        <p:spPr>
          <a:xfrm>
            <a:off x="1234440" y="4206240"/>
            <a:ext cx="4023360" cy="777240"/>
          </a:xfrm>
          <a:prstGeom prst="rect">
            <a:avLst/>
          </a:prstGeom>
          <a:noFill/>
          <a:ln/>
        </p:spPr>
        <p:txBody>
          <a:bodyPr wrap="square" lIns="0" tIns="0" rIns="0" bIns="0" rtlCol="0" anchor="t"/>
          <a:lstStyle/>
          <a:p>
            <a:pPr indent="0" marL="0">
              <a:buNone/>
            </a:pPr>
            <a:r>
              <a:rPr lang="en-US" sz="1400" b="1" dirty="0">
                <a:solidFill>
                  <a:schemeClr val="tx1"/>
                </a:solidFill>
              </a:rPr>
              <a:t>Sync</a:t>
            </a:r>
            <a:endParaRPr lang="en-US" sz="1400" dirty="0"/>
          </a:p>
          <a:p>
            <a:pPr indent="0" marL="0">
              <a:buNone/>
            </a:pPr>
            <a:r>
              <a:rPr lang="en-US" sz="1400" dirty="0">
                <a:solidFill>
                  <a:schemeClr val="tx1"/>
                </a:solidFill>
              </a:rPr>
              <a:t>Argo CD polls every 60 s and rolls out the new SHA</a:t>
            </a:r>
            <a:endParaRPr lang="en-US" sz="1400" dirty="0"/>
          </a:p>
        </p:txBody>
      </p:sp>
      <p:sp>
        <p:nvSpPr>
          <p:cNvPr id="14" name="Text 12"/>
          <p:cNvSpPr txBox="1"/>
          <p:nvPr/>
        </p:nvSpPr>
        <p:spPr>
          <a:xfrm>
            <a:off x="548640" y="5257800"/>
            <a:ext cx="128016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6 s</a:t>
            </a:r>
            <a:endParaRPr lang="en-US" sz="4000" dirty="0"/>
          </a:p>
        </p:txBody>
      </p:sp>
      <p:sp>
        <p:nvSpPr>
          <p:cNvPr id="15" name="Text 13"/>
          <p:cNvSpPr txBox="1"/>
          <p:nvPr/>
        </p:nvSpPr>
        <p:spPr>
          <a:xfrm>
            <a:off x="1828800" y="5257800"/>
            <a:ext cx="3474720" cy="731520"/>
          </a:xfrm>
          <a:prstGeom prst="rect">
            <a:avLst/>
          </a:prstGeom>
          <a:noFill/>
          <a:ln/>
        </p:spPr>
        <p:txBody>
          <a:bodyPr wrap="square" lIns="0" tIns="0" rIns="0" bIns="0" rtlCol="0" anchor="ctr"/>
          <a:lstStyle/>
          <a:p>
            <a:pPr indent="0" marL="0">
              <a:buNone/>
            </a:pPr>
            <a:r>
              <a:rPr lang="en-US" sz="1400" dirty="0">
                <a:solidFill>
                  <a:schemeClr val="tx1"/>
                </a:solidFill>
              </a:rPr>
              <a:t>for self-heal to undo a manual ConfigMap edit and a deleted Service</a:t>
            </a:r>
            <a:endParaRPr lang="en-US" sz="1400" dirty="0"/>
          </a:p>
        </p:txBody>
      </p:sp>
      <p:sp>
        <p:nvSpPr>
          <p:cNvPr id="16" name="Argo CD application frame"/>
          <p:cNvSpPr/>
          <p:nvPr/>
        </p:nvSpPr>
        <p:spPr>
          <a:xfrm>
            <a:off x="5760720" y="1371600"/>
            <a:ext cx="5852160" cy="3657600"/>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17" name="Argo CD application" descr="Argo CD application">    </p:cNvPr>
          <p:cNvPicPr>
            <a:picLocks noChangeAspect="1"/>
          </p:cNvPicPr>
          <p:nvPr/>
        </p:nvPicPr>
        <p:blipFill>
          <a:blip r:embed="rId1"/>
          <a:stretch>
            <a:fillRect/>
          </a:stretch>
        </p:blipFill>
        <p:spPr>
          <a:xfrm>
            <a:off x="5760720" y="1371600"/>
            <a:ext cx="5852160" cy="3657600"/>
          </a:xfrm>
          <a:prstGeom prst="rect">
            <a:avLst/>
          </a:prstGeom>
        </p:spPr>
      </p:pic>
      <p:sp>
        <p:nvSpPr>
          <p:cNvPr id="18" name="Text 15"/>
          <p:cNvSpPr txBox="1"/>
          <p:nvPr/>
        </p:nvSpPr>
        <p:spPr>
          <a:xfrm>
            <a:off x="5760720" y="5120640"/>
            <a:ext cx="5852160" cy="320040"/>
          </a:xfrm>
          <a:prstGeom prst="rect">
            <a:avLst/>
          </a:prstGeom>
          <a:noFill/>
          <a:ln/>
        </p:spPr>
        <p:txBody>
          <a:bodyPr wrap="square" lIns="0" tIns="0" rIns="0" bIns="0" rtlCol="0" anchor="ctr"/>
          <a:lstStyle/>
          <a:p>
            <a:pPr indent="0" marL="0">
              <a:buNone/>
            </a:pPr>
            <a:r>
              <a:rPr lang="en-US" sz="1100" i="1" dirty="0">
                <a:solidFill>
                  <a:schemeClr val="accent5"/>
                </a:solidFill>
              </a:rPr>
              <a:t>Argo CD: clinicdesk Synced and Healthy at the bot's promotion commit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Observability: every pod scraped, every request graphed</a:t>
            </a:r>
            <a:endParaRPr lang="en-US" sz="3200" dirty="0"/>
          </a:p>
        </p:txBody>
      </p:sp>
      <p:sp>
        <p:nvSpPr>
          <p:cNvPr id="3" name="Prometheus targets frame"/>
          <p:cNvSpPr/>
          <p:nvPr/>
        </p:nvSpPr>
        <p:spPr>
          <a:xfrm>
            <a:off x="548640" y="1371600"/>
            <a:ext cx="5394960" cy="3374136"/>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4" name="Prometheus targets" descr="Prometheus targets">    </p:cNvPr>
          <p:cNvPicPr>
            <a:picLocks noChangeAspect="1"/>
          </p:cNvPicPr>
          <p:nvPr/>
        </p:nvPicPr>
        <p:blipFill>
          <a:blip r:embed="rId1"/>
          <a:stretch>
            <a:fillRect/>
          </a:stretch>
        </p:blipFill>
        <p:spPr>
          <a:xfrm>
            <a:off x="548640" y="1371600"/>
            <a:ext cx="5394960" cy="3374136"/>
          </a:xfrm>
          <a:prstGeom prst="rect">
            <a:avLst/>
          </a:prstGeom>
        </p:spPr>
      </p:pic>
      <p:sp>
        <p:nvSpPr>
          <p:cNvPr id="5" name="Grafana dashboard frame"/>
          <p:cNvSpPr/>
          <p:nvPr/>
        </p:nvSpPr>
        <p:spPr>
          <a:xfrm>
            <a:off x="6217920" y="1371600"/>
            <a:ext cx="5394960" cy="3374136"/>
          </a:xfrm>
          <a:prstGeom prst="rect">
            <a:avLst/>
          </a:prstGeom>
          <a:solidFill>
            <a:schemeClr val="bg1"/>
          </a:solidFill>
          <a:ln w="9525">
            <a:solidFill>
              <a:srgbClr val="C9D8CF"/>
            </a:solidFill>
            <a:prstDash val="solid"/>
          </a:ln>
          <a:effectLst>
            <a:outerShdw sx="100000" sy="100000" kx="0" ky="0" algn="bl" rotWithShape="0" blurRad="101600" dist="25400" dir="5400000">
              <a:srgbClr val="17302A">
                <a:alpha val="18000"/>
              </a:srgbClr>
            </a:outerShdw>
          </a:effectLst>
        </p:spPr>
      </p:sp>
      <p:pic>
        <p:nvPicPr>
          <p:cNvPr id="6" name="Grafana dashboard" descr="Grafana dashboard">    </p:cNvPr>
          <p:cNvPicPr>
            <a:picLocks noChangeAspect="1"/>
          </p:cNvPicPr>
          <p:nvPr/>
        </p:nvPicPr>
        <p:blipFill>
          <a:blip r:embed="rId2"/>
          <a:stretch>
            <a:fillRect/>
          </a:stretch>
        </p:blipFill>
        <p:spPr>
          <a:xfrm>
            <a:off x="6217920" y="1371600"/>
            <a:ext cx="5394960" cy="3374136"/>
          </a:xfrm>
          <a:prstGeom prst="rect">
            <a:avLst/>
          </a:prstGeom>
        </p:spPr>
      </p:pic>
      <p:sp>
        <p:nvSpPr>
          <p:cNvPr id="7" name="Text 3"/>
          <p:cNvSpPr txBox="1"/>
          <p:nvPr/>
        </p:nvSpPr>
        <p:spPr>
          <a:xfrm>
            <a:off x="548640" y="4892040"/>
            <a:ext cx="5394960" cy="822960"/>
          </a:xfrm>
          <a:prstGeom prst="rect">
            <a:avLst/>
          </a:prstGeom>
          <a:noFill/>
          <a:ln/>
        </p:spPr>
        <p:txBody>
          <a:bodyPr wrap="square" lIns="0" tIns="0" rIns="0" bIns="0" rtlCol="0" anchor="t"/>
          <a:lstStyle/>
          <a:p>
            <a:pPr indent="0" marL="0">
              <a:buNone/>
            </a:pPr>
            <a:r>
              <a:rPr lang="en-US" sz="1400" b="1" dirty="0">
                <a:solidFill>
                  <a:schemeClr val="tx1"/>
                </a:solidFill>
              </a:rPr>
              <a:t>Prometheus: </a:t>
            </a:r>
            <a:pPr indent="0" marL="0">
              <a:buNone/>
            </a:pPr>
            <a:r>
              <a:rPr lang="en-US" sz="1400" dirty="0">
                <a:solidFill>
                  <a:schemeClr val="tx1"/>
                </a:solidFill>
              </a:rPr>
              <a:t>a ServiceMonitor scrapes /metrics every 15 s; 5 of 5 backend pods UP during load.</a:t>
            </a:r>
            <a:endParaRPr lang="en-US" sz="1400" dirty="0"/>
          </a:p>
        </p:txBody>
      </p:sp>
      <p:sp>
        <p:nvSpPr>
          <p:cNvPr id="8" name="Text 4"/>
          <p:cNvSpPr txBox="1"/>
          <p:nvPr/>
        </p:nvSpPr>
        <p:spPr>
          <a:xfrm>
            <a:off x="6217920" y="4892040"/>
            <a:ext cx="5394960" cy="822960"/>
          </a:xfrm>
          <a:prstGeom prst="rect">
            <a:avLst/>
          </a:prstGeom>
          <a:noFill/>
          <a:ln/>
        </p:spPr>
        <p:txBody>
          <a:bodyPr wrap="square" lIns="0" tIns="0" rIns="0" bIns="0" rtlCol="0" anchor="t"/>
          <a:lstStyle/>
          <a:p>
            <a:pPr indent="0" marL="0">
              <a:buNone/>
            </a:pPr>
            <a:r>
              <a:rPr lang="en-US" sz="1400" b="1" dirty="0">
                <a:solidFill>
                  <a:schemeClr val="tx1"/>
                </a:solidFill>
              </a:rPr>
              <a:t>Grafana: </a:t>
            </a:r>
            <a:pPr indent="0" marL="0">
              <a:buNone/>
            </a:pPr>
            <a:r>
              <a:rPr lang="en-US" sz="1400" dirty="0">
                <a:solidFill>
                  <a:schemeClr val="tx1"/>
                </a:solidFill>
              </a:rPr>
              <a:t>8 panels (request rate, error ratio, p50/p95 latency, HPA replicas, CPU, memory) plus 3 alert rules.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Key learnings</a:t>
            </a:r>
            <a:endParaRPr lang="en-US" sz="3200" dirty="0"/>
          </a:p>
        </p:txBody>
      </p:sp>
      <p:sp>
        <p:nvSpPr>
          <p:cNvPr id="3" name="learning 1"/>
          <p:cNvSpPr/>
          <p:nvPr/>
        </p:nvSpPr>
        <p:spPr>
          <a:xfrm>
            <a:off x="548640" y="1325880"/>
            <a:ext cx="3502152" cy="2194560"/>
          </a:xfrm>
          <a:prstGeom prst="roundRect">
            <a:avLst>
              <a:gd name="adj" fmla="val 4167"/>
            </a:avLst>
          </a:prstGeom>
          <a:solidFill>
            <a:schemeClr val="bg2"/>
          </a:solidFill>
          <a:ln/>
        </p:spPr>
      </p:sp>
      <p:sp>
        <p:nvSpPr>
          <p:cNvPr id="4" name="Text 2"/>
          <p:cNvSpPr txBox="1"/>
          <p:nvPr/>
        </p:nvSpPr>
        <p:spPr>
          <a:xfrm>
            <a:off x="822960" y="1508760"/>
            <a:ext cx="9144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01</a:t>
            </a:r>
            <a:endParaRPr lang="en-US" sz="2200" dirty="0"/>
          </a:p>
        </p:txBody>
      </p:sp>
      <p:sp>
        <p:nvSpPr>
          <p:cNvPr id="5" name="Text 3"/>
          <p:cNvSpPr txBox="1"/>
          <p:nvPr/>
        </p:nvSpPr>
        <p:spPr>
          <a:xfrm>
            <a:off x="822960" y="1965960"/>
            <a:ext cx="2953512" cy="640080"/>
          </a:xfrm>
          <a:prstGeom prst="rect">
            <a:avLst/>
          </a:prstGeom>
          <a:noFill/>
          <a:ln/>
        </p:spPr>
        <p:txBody>
          <a:bodyPr wrap="square" lIns="0" tIns="0" rIns="0" bIns="0" rtlCol="0" anchor="t"/>
          <a:lstStyle/>
          <a:p>
            <a:pPr indent="0" marL="0">
              <a:buNone/>
            </a:pPr>
            <a:r>
              <a:rPr lang="en-US" sz="1500" b="1" dirty="0">
                <a:solidFill>
                  <a:schemeClr val="tx1"/>
                </a:solidFill>
              </a:rPr>
              <a:t>No fixable vulnerabilities is not no vulnerabilities</a:t>
            </a:r>
            <a:endParaRPr lang="en-US" sz="1500" dirty="0"/>
          </a:p>
        </p:txBody>
      </p:sp>
      <p:sp>
        <p:nvSpPr>
          <p:cNvPr id="6" name="Text 4"/>
          <p:cNvSpPr txBox="1"/>
          <p:nvPr/>
        </p:nvSpPr>
        <p:spPr>
          <a:xfrm>
            <a:off x="822960" y="2606040"/>
            <a:ext cx="2953512" cy="822960"/>
          </a:xfrm>
          <a:prstGeom prst="rect">
            <a:avLst/>
          </a:prstGeom>
          <a:noFill/>
          <a:ln/>
        </p:spPr>
        <p:txBody>
          <a:bodyPr wrap="square" lIns="0" tIns="0" rIns="0" bIns="0" rtlCol="0" anchor="t"/>
          <a:lstStyle/>
          <a:p>
            <a:pPr indent="0" marL="0">
              <a:buNone/>
            </a:pPr>
            <a:r>
              <a:rPr lang="en-US" sz="1300" dirty="0">
                <a:solidFill>
                  <a:schemeClr val="tx1"/>
                </a:solidFill>
              </a:rPr>
              <a:t>Changing the base image removed 44 HIGH CVEs that ignore-unfixed would have hidden.</a:t>
            </a:r>
            <a:endParaRPr lang="en-US" sz="1300" dirty="0"/>
          </a:p>
        </p:txBody>
      </p:sp>
      <p:sp>
        <p:nvSpPr>
          <p:cNvPr id="7" name="learning 2"/>
          <p:cNvSpPr/>
          <p:nvPr/>
        </p:nvSpPr>
        <p:spPr>
          <a:xfrm>
            <a:off x="4325112" y="1325880"/>
            <a:ext cx="3502152" cy="2194560"/>
          </a:xfrm>
          <a:prstGeom prst="roundRect">
            <a:avLst>
              <a:gd name="adj" fmla="val 4167"/>
            </a:avLst>
          </a:prstGeom>
          <a:solidFill>
            <a:schemeClr val="bg2"/>
          </a:solidFill>
          <a:ln/>
        </p:spPr>
      </p:sp>
      <p:sp>
        <p:nvSpPr>
          <p:cNvPr id="8" name="Text 6"/>
          <p:cNvSpPr txBox="1"/>
          <p:nvPr/>
        </p:nvSpPr>
        <p:spPr>
          <a:xfrm>
            <a:off x="4599432" y="1508760"/>
            <a:ext cx="9144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02</a:t>
            </a:r>
            <a:endParaRPr lang="en-US" sz="2200" dirty="0"/>
          </a:p>
        </p:txBody>
      </p:sp>
      <p:sp>
        <p:nvSpPr>
          <p:cNvPr id="9" name="Text 7"/>
          <p:cNvSpPr txBox="1"/>
          <p:nvPr/>
        </p:nvSpPr>
        <p:spPr>
          <a:xfrm>
            <a:off x="4599432" y="1965960"/>
            <a:ext cx="2953512" cy="640080"/>
          </a:xfrm>
          <a:prstGeom prst="rect">
            <a:avLst/>
          </a:prstGeom>
          <a:noFill/>
          <a:ln/>
        </p:spPr>
        <p:txBody>
          <a:bodyPr wrap="square" lIns="0" tIns="0" rIns="0" bIns="0" rtlCol="0" anchor="t"/>
          <a:lstStyle/>
          <a:p>
            <a:pPr indent="0" marL="0">
              <a:buNone/>
            </a:pPr>
            <a:r>
              <a:rPr lang="en-US" sz="1500" b="1" dirty="0">
                <a:solidFill>
                  <a:schemeClr val="tx1"/>
                </a:solidFill>
              </a:rPr>
              <a:t>Pods, not cores, filled the cluster</a:t>
            </a:r>
            <a:endParaRPr lang="en-US" sz="1500" dirty="0"/>
          </a:p>
        </p:txBody>
      </p:sp>
      <p:sp>
        <p:nvSpPr>
          <p:cNvPr id="10" name="Text 8"/>
          <p:cNvSpPr txBox="1"/>
          <p:nvPr/>
        </p:nvSpPr>
        <p:spPr>
          <a:xfrm>
            <a:off x="4599432" y="2606040"/>
            <a:ext cx="2953512" cy="822960"/>
          </a:xfrm>
          <a:prstGeom prst="rect">
            <a:avLst/>
          </a:prstGeom>
          <a:noFill/>
          <a:ln/>
        </p:spPr>
        <p:txBody>
          <a:bodyPr wrap="square" lIns="0" tIns="0" rIns="0" bIns="0" rtlCol="0" anchor="t"/>
          <a:lstStyle/>
          <a:p>
            <a:pPr indent="0" marL="0">
              <a:buNone/>
            </a:pPr>
            <a:r>
              <a:rPr lang="en-US" sz="1300" dirty="0">
                <a:solidFill>
                  <a:schemeClr val="tx1"/>
                </a:solidFill>
              </a:rPr>
              <a:t>With the VPC CNI a t3.medium holds 17 pods; an autoscale plus rollout hit that limit.</a:t>
            </a:r>
            <a:endParaRPr lang="en-US" sz="1300" dirty="0"/>
          </a:p>
        </p:txBody>
      </p:sp>
      <p:sp>
        <p:nvSpPr>
          <p:cNvPr id="11" name="learning 3"/>
          <p:cNvSpPr/>
          <p:nvPr/>
        </p:nvSpPr>
        <p:spPr>
          <a:xfrm>
            <a:off x="8101584" y="1325880"/>
            <a:ext cx="3502152" cy="2194560"/>
          </a:xfrm>
          <a:prstGeom prst="roundRect">
            <a:avLst>
              <a:gd name="adj" fmla="val 4167"/>
            </a:avLst>
          </a:prstGeom>
          <a:solidFill>
            <a:schemeClr val="bg2"/>
          </a:solidFill>
          <a:ln/>
        </p:spPr>
      </p:sp>
      <p:sp>
        <p:nvSpPr>
          <p:cNvPr id="12" name="Text 10"/>
          <p:cNvSpPr txBox="1"/>
          <p:nvPr/>
        </p:nvSpPr>
        <p:spPr>
          <a:xfrm>
            <a:off x="8375904" y="1508760"/>
            <a:ext cx="9144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03</a:t>
            </a:r>
            <a:endParaRPr lang="en-US" sz="2200" dirty="0"/>
          </a:p>
        </p:txBody>
      </p:sp>
      <p:sp>
        <p:nvSpPr>
          <p:cNvPr id="13" name="Text 11"/>
          <p:cNvSpPr txBox="1"/>
          <p:nvPr/>
        </p:nvSpPr>
        <p:spPr>
          <a:xfrm>
            <a:off x="8375904" y="1965960"/>
            <a:ext cx="2953512" cy="640080"/>
          </a:xfrm>
          <a:prstGeom prst="rect">
            <a:avLst/>
          </a:prstGeom>
          <a:noFill/>
          <a:ln/>
        </p:spPr>
        <p:txBody>
          <a:bodyPr wrap="square" lIns="0" tIns="0" rIns="0" bIns="0" rtlCol="0" anchor="t"/>
          <a:lstStyle/>
          <a:p>
            <a:pPr indent="0" marL="0">
              <a:buNone/>
            </a:pPr>
            <a:r>
              <a:rPr lang="en-US" sz="1500" b="1" dirty="0">
                <a:solidFill>
                  <a:schemeClr val="tx1"/>
                </a:solidFill>
              </a:rPr>
              <a:t>Liveness and readiness answer different questions</a:t>
            </a:r>
            <a:endParaRPr lang="en-US" sz="1500" dirty="0"/>
          </a:p>
        </p:txBody>
      </p:sp>
      <p:sp>
        <p:nvSpPr>
          <p:cNvPr id="14" name="Text 12"/>
          <p:cNvSpPr txBox="1"/>
          <p:nvPr/>
        </p:nvSpPr>
        <p:spPr>
          <a:xfrm>
            <a:off x="8375904" y="2606040"/>
            <a:ext cx="2953512" cy="822960"/>
          </a:xfrm>
          <a:prstGeom prst="rect">
            <a:avLst/>
          </a:prstGeom>
          <a:noFill/>
          <a:ln/>
        </p:spPr>
        <p:txBody>
          <a:bodyPr wrap="square" lIns="0" tIns="0" rIns="0" bIns="0" rtlCol="0" anchor="t"/>
          <a:lstStyle/>
          <a:p>
            <a:pPr indent="0" marL="0">
              <a:buNone/>
            </a:pPr>
            <a:r>
              <a:rPr lang="en-US" sz="1300" dirty="0">
                <a:solidFill>
                  <a:schemeClr val="tx1"/>
                </a:solidFill>
              </a:rPr>
              <a:t>Database down made pods unready without a single restart, and they recovered by themselves.</a:t>
            </a:r>
            <a:endParaRPr lang="en-US" sz="1300" dirty="0"/>
          </a:p>
        </p:txBody>
      </p:sp>
      <p:sp>
        <p:nvSpPr>
          <p:cNvPr id="15" name="learning 4"/>
          <p:cNvSpPr/>
          <p:nvPr/>
        </p:nvSpPr>
        <p:spPr>
          <a:xfrm>
            <a:off x="548640" y="3794760"/>
            <a:ext cx="3502152" cy="2194560"/>
          </a:xfrm>
          <a:prstGeom prst="roundRect">
            <a:avLst>
              <a:gd name="adj" fmla="val 4167"/>
            </a:avLst>
          </a:prstGeom>
          <a:solidFill>
            <a:schemeClr val="bg2"/>
          </a:solidFill>
          <a:ln/>
        </p:spPr>
      </p:sp>
      <p:sp>
        <p:nvSpPr>
          <p:cNvPr id="16" name="Text 14"/>
          <p:cNvSpPr txBox="1"/>
          <p:nvPr/>
        </p:nvSpPr>
        <p:spPr>
          <a:xfrm>
            <a:off x="822960" y="3977640"/>
            <a:ext cx="9144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04</a:t>
            </a:r>
            <a:endParaRPr lang="en-US" sz="2200" dirty="0"/>
          </a:p>
        </p:txBody>
      </p:sp>
      <p:sp>
        <p:nvSpPr>
          <p:cNvPr id="17" name="Text 15"/>
          <p:cNvSpPr txBox="1"/>
          <p:nvPr/>
        </p:nvSpPr>
        <p:spPr>
          <a:xfrm>
            <a:off x="822960" y="4434840"/>
            <a:ext cx="2953512" cy="640080"/>
          </a:xfrm>
          <a:prstGeom prst="rect">
            <a:avLst/>
          </a:prstGeom>
          <a:noFill/>
          <a:ln/>
        </p:spPr>
        <p:txBody>
          <a:bodyPr wrap="square" lIns="0" tIns="0" rIns="0" bIns="0" rtlCol="0" anchor="t"/>
          <a:lstStyle/>
          <a:p>
            <a:pPr indent="0" marL="0">
              <a:buNone/>
            </a:pPr>
            <a:r>
              <a:rPr lang="en-US" sz="1500" b="1" dirty="0">
                <a:solidFill>
                  <a:schemeClr val="tx1"/>
                </a:solidFill>
              </a:rPr>
              <a:t>GitOps changes how you fix things</a:t>
            </a:r>
            <a:endParaRPr lang="en-US" sz="1500" dirty="0"/>
          </a:p>
        </p:txBody>
      </p:sp>
      <p:sp>
        <p:nvSpPr>
          <p:cNvPr id="18" name="Text 16"/>
          <p:cNvSpPr txBox="1"/>
          <p:nvPr/>
        </p:nvSpPr>
        <p:spPr>
          <a:xfrm>
            <a:off x="822960" y="5074920"/>
            <a:ext cx="2953512" cy="822960"/>
          </a:xfrm>
          <a:prstGeom prst="rect">
            <a:avLst/>
          </a:prstGeom>
          <a:noFill/>
          <a:ln/>
        </p:spPr>
        <p:txBody>
          <a:bodyPr wrap="square" lIns="0" tIns="0" rIns="0" bIns="0" rtlCol="0" anchor="t"/>
          <a:lstStyle/>
          <a:p>
            <a:pPr indent="0" marL="0">
              <a:buNone/>
            </a:pPr>
            <a:r>
              <a:rPr lang="en-US" sz="1300" dirty="0">
                <a:solidFill>
                  <a:schemeClr val="tx1"/>
                </a:solidFill>
              </a:rPr>
              <a:t>Self-heal undid manual changes in seconds, so the fix has to go into Git.</a:t>
            </a:r>
            <a:endParaRPr lang="en-US" sz="1300" dirty="0"/>
          </a:p>
        </p:txBody>
      </p:sp>
      <p:sp>
        <p:nvSpPr>
          <p:cNvPr id="19" name="learning 5"/>
          <p:cNvSpPr/>
          <p:nvPr/>
        </p:nvSpPr>
        <p:spPr>
          <a:xfrm>
            <a:off x="4325112" y="3794760"/>
            <a:ext cx="3502152" cy="2194560"/>
          </a:xfrm>
          <a:prstGeom prst="roundRect">
            <a:avLst>
              <a:gd name="adj" fmla="val 4167"/>
            </a:avLst>
          </a:prstGeom>
          <a:solidFill>
            <a:schemeClr val="bg2"/>
          </a:solidFill>
          <a:ln/>
        </p:spPr>
      </p:sp>
      <p:sp>
        <p:nvSpPr>
          <p:cNvPr id="20" name="Text 18"/>
          <p:cNvSpPr txBox="1"/>
          <p:nvPr/>
        </p:nvSpPr>
        <p:spPr>
          <a:xfrm>
            <a:off x="4599432" y="3977640"/>
            <a:ext cx="9144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05</a:t>
            </a:r>
            <a:endParaRPr lang="en-US" sz="2200" dirty="0"/>
          </a:p>
        </p:txBody>
      </p:sp>
      <p:sp>
        <p:nvSpPr>
          <p:cNvPr id="21" name="Text 19"/>
          <p:cNvSpPr txBox="1"/>
          <p:nvPr/>
        </p:nvSpPr>
        <p:spPr>
          <a:xfrm>
            <a:off x="4599432" y="4434840"/>
            <a:ext cx="2953512" cy="640080"/>
          </a:xfrm>
          <a:prstGeom prst="rect">
            <a:avLst/>
          </a:prstGeom>
          <a:noFill/>
          <a:ln/>
        </p:spPr>
        <p:txBody>
          <a:bodyPr wrap="square" lIns="0" tIns="0" rIns="0" bIns="0" rtlCol="0" anchor="t"/>
          <a:lstStyle/>
          <a:p>
            <a:pPr indent="0" marL="0">
              <a:buNone/>
            </a:pPr>
            <a:r>
              <a:rPr lang="en-US" sz="1500" b="1" dirty="0">
                <a:solidFill>
                  <a:schemeClr val="tx1"/>
                </a:solidFill>
              </a:rPr>
              <a:t>The API server's defaults are part of the diff</a:t>
            </a:r>
            <a:endParaRPr lang="en-US" sz="1500" dirty="0"/>
          </a:p>
        </p:txBody>
      </p:sp>
      <p:sp>
        <p:nvSpPr>
          <p:cNvPr id="22" name="Text 20"/>
          <p:cNvSpPr txBox="1"/>
          <p:nvPr/>
        </p:nvSpPr>
        <p:spPr>
          <a:xfrm>
            <a:off x="4599432" y="5074920"/>
            <a:ext cx="2953512" cy="822960"/>
          </a:xfrm>
          <a:prstGeom prst="rect">
            <a:avLst/>
          </a:prstGeom>
          <a:noFill/>
          <a:ln/>
        </p:spPr>
        <p:txBody>
          <a:bodyPr wrap="square" lIns="0" tIns="0" rIns="0" bIns="0" rtlCol="0" anchor="t"/>
          <a:lstStyle/>
          <a:p>
            <a:pPr indent="0" marL="0">
              <a:buNone/>
            </a:pPr>
            <a:r>
              <a:rPr lang="en-US" sz="1300" dirty="0">
                <a:solidFill>
                  <a:schemeClr val="tx1"/>
                </a:solidFill>
              </a:rPr>
              <a:t>A StatefulSet stayed OutOfSync until the chart spelled out the defaulted fields.</a:t>
            </a:r>
            <a:endParaRPr lang="en-US" sz="1300" dirty="0"/>
          </a:p>
        </p:txBody>
      </p:sp>
      <p:sp>
        <p:nvSpPr>
          <p:cNvPr id="23" name="learning 6"/>
          <p:cNvSpPr/>
          <p:nvPr/>
        </p:nvSpPr>
        <p:spPr>
          <a:xfrm>
            <a:off x="8101584" y="3794760"/>
            <a:ext cx="3502152" cy="2194560"/>
          </a:xfrm>
          <a:prstGeom prst="roundRect">
            <a:avLst>
              <a:gd name="adj" fmla="val 4167"/>
            </a:avLst>
          </a:prstGeom>
          <a:solidFill>
            <a:schemeClr val="bg2"/>
          </a:solidFill>
          <a:ln/>
        </p:spPr>
      </p:sp>
      <p:sp>
        <p:nvSpPr>
          <p:cNvPr id="24" name="Text 22"/>
          <p:cNvSpPr txBox="1"/>
          <p:nvPr/>
        </p:nvSpPr>
        <p:spPr>
          <a:xfrm>
            <a:off x="8375904" y="3977640"/>
            <a:ext cx="9144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06</a:t>
            </a:r>
            <a:endParaRPr lang="en-US" sz="2200" dirty="0"/>
          </a:p>
        </p:txBody>
      </p:sp>
      <p:sp>
        <p:nvSpPr>
          <p:cNvPr id="25" name="Text 23"/>
          <p:cNvSpPr txBox="1"/>
          <p:nvPr/>
        </p:nvSpPr>
        <p:spPr>
          <a:xfrm>
            <a:off x="8375904" y="4434840"/>
            <a:ext cx="2953512" cy="640080"/>
          </a:xfrm>
          <a:prstGeom prst="rect">
            <a:avLst/>
          </a:prstGeom>
          <a:noFill/>
          <a:ln/>
        </p:spPr>
        <p:txBody>
          <a:bodyPr wrap="square" lIns="0" tIns="0" rIns="0" bIns="0" rtlCol="0" anchor="t"/>
          <a:lstStyle/>
          <a:p>
            <a:pPr indent="0" marL="0">
              <a:buNone/>
            </a:pPr>
            <a:r>
              <a:rPr lang="en-US" sz="1500" b="1" dirty="0">
                <a:solidFill>
                  <a:schemeClr val="tx1"/>
                </a:solidFill>
              </a:rPr>
              <a:t>Pull-based delivery removes a secret</a:t>
            </a:r>
            <a:endParaRPr lang="en-US" sz="1500" dirty="0"/>
          </a:p>
        </p:txBody>
      </p:sp>
      <p:sp>
        <p:nvSpPr>
          <p:cNvPr id="26" name="Text 24"/>
          <p:cNvSpPr txBox="1"/>
          <p:nvPr/>
        </p:nvSpPr>
        <p:spPr>
          <a:xfrm>
            <a:off x="8375904" y="5074920"/>
            <a:ext cx="2953512" cy="822960"/>
          </a:xfrm>
          <a:prstGeom prst="rect">
            <a:avLst/>
          </a:prstGeom>
          <a:noFill/>
          <a:ln/>
        </p:spPr>
        <p:txBody>
          <a:bodyPr wrap="square" lIns="0" tIns="0" rIns="0" bIns="0" rtlCol="0" anchor="t"/>
          <a:lstStyle/>
          <a:p>
            <a:pPr indent="0" marL="0">
              <a:buNone/>
            </a:pPr>
            <a:r>
              <a:rPr lang="en-US" sz="1300" dirty="0">
                <a:solidFill>
                  <a:schemeClr val="tx1"/>
                </a:solidFill>
              </a:rPr>
              <a:t>GitHub never held a kubeconfig or AWS key; deployment is a Git commit.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icon tile"/>
          <p:cNvSpPr/>
          <p:nvPr/>
        </p:nvSpPr>
        <p:spPr>
          <a:xfrm>
            <a:off x="640080" y="822960"/>
            <a:ext cx="548640" cy="548640"/>
          </a:xfrm>
          <a:prstGeom prst="roundRect">
            <a:avLst>
              <a:gd name="adj" fmla="val 20000"/>
            </a:avLst>
          </a:prstGeom>
          <a:solidFill>
            <a:schemeClr val="accent1"/>
          </a:solidFill>
          <a:ln/>
        </p:spPr>
      </p:sp>
      <p:pic>
        <p:nvPicPr>
          <p:cNvPr id="3" name="FaPlus" descr="preencoded.png">    </p:cNvPr>
          <p:cNvPicPr>
            <a:picLocks noChangeAspect="1"/>
          </p:cNvPicPr>
          <p:nvPr/>
        </p:nvPicPr>
        <p:blipFill>
          <a:blip r:embed="rId1"/>
          <a:stretch>
            <a:fillRect/>
          </a:stretch>
        </p:blipFill>
        <p:spPr>
          <a:xfrm>
            <a:off x="760781" y="943661"/>
            <a:ext cx="307238" cy="307238"/>
          </a:xfrm>
          <a:prstGeom prst="rect">
            <a:avLst/>
          </a:prstGeom>
        </p:spPr>
      </p:pic>
      <p:sp>
        <p:nvSpPr>
          <p:cNvPr id="4" name="Text 1"/>
          <p:cNvSpPr txBox="1"/>
          <p:nvPr/>
        </p:nvSpPr>
        <p:spPr>
          <a:xfrm>
            <a:off x="1325880" y="822960"/>
            <a:ext cx="3657600" cy="548640"/>
          </a:xfrm>
          <a:prstGeom prst="rect">
            <a:avLst/>
          </a:prstGeom>
          <a:noFill/>
          <a:ln/>
        </p:spPr>
        <p:txBody>
          <a:bodyPr wrap="square" lIns="0" tIns="0" rIns="0" bIns="0" rtlCol="0" anchor="ctr"/>
          <a:lstStyle/>
          <a:p>
            <a:pPr indent="0" marL="0">
              <a:buNone/>
            </a:pPr>
            <a:r>
              <a:rPr lang="en-US" sz="2200" b="1" dirty="0">
                <a:solidFill>
                  <a:schemeClr val="bg1"/>
                </a:solidFill>
              </a:rPr>
              <a:t>ClinicDesk</a:t>
            </a:r>
            <a:endParaRPr lang="en-US" sz="2200" dirty="0"/>
          </a:p>
        </p:txBody>
      </p:sp>
      <p:sp>
        <p:nvSpPr>
          <p:cNvPr id="5" name="Text 0"/>
          <p:cNvSpPr/>
          <p:nvPr>
            <p:ph idx="100" type="title" hasCustomPrompt="1"/>
          </p:nvPr>
        </p:nvSpPr>
        <p:spPr>
          <a:xfrm>
            <a:off x="640080" y="1828800"/>
            <a:ext cx="5669280" cy="914400"/>
          </a:xfrm>
          <a:prstGeom prst="rect">
            <a:avLst/>
          </a:prstGeom>
          <a:noFill/>
          <a:ln/>
        </p:spPr>
        <p:txBody>
          <a:bodyPr wrap="square" lIns="0" tIns="0" rIns="0" bIns="0" rtlCol="0" anchor="t"/>
          <a:lstStyle/>
          <a:p>
            <a:pPr algn="l" indent="0" marL="0">
              <a:buNone/>
            </a:pPr>
            <a:r>
              <a:rPr lang="en-US" sz="3400" b="1" dirty="0">
                <a:solidFill>
                  <a:schemeClr val="bg1"/>
                </a:solidFill>
              </a:rPr>
              <a:t>Next: the live walkthrough</a:t>
            </a:r>
            <a:endParaRPr lang="en-US" sz="3400" dirty="0"/>
          </a:p>
        </p:txBody>
      </p:sp>
      <p:sp>
        <p:nvSpPr>
          <p:cNvPr id="6" name="Text 3"/>
          <p:cNvSpPr txBox="1"/>
          <p:nvPr/>
        </p:nvSpPr>
        <p:spPr>
          <a:xfrm>
            <a:off x="640080" y="2743200"/>
            <a:ext cx="5669280" cy="3108960"/>
          </a:xfrm>
          <a:prstGeom prst="rect">
            <a:avLst/>
          </a:prstGeom>
          <a:noFill/>
          <a:ln/>
        </p:spPr>
        <p:txBody>
          <a:bodyPr wrap="square" lIns="0" tIns="0" rIns="0" bIns="0" rtlCol="0" anchor="t"/>
          <a:lstStyle/>
          <a:p>
            <a:pPr indent="0" marL="0">
              <a:spcAft>
                <a:spcPts val="600"/>
              </a:spcAft>
              <a:buNone/>
            </a:pPr>
            <a:r>
              <a:rPr lang="en-US" sz="1600" dirty="0">
                <a:solidFill>
                  <a:schemeClr val="bg2"/>
                </a:solidFill>
              </a:rPr>
              <a:t>1.   Codebase and folder structure</a:t>
            </a:r>
            <a:endParaRPr lang="en-US" sz="1600" dirty="0"/>
          </a:p>
          <a:p>
            <a:pPr indent="0" marL="0">
              <a:spcAft>
                <a:spcPts val="600"/>
              </a:spcAft>
              <a:buNone/>
            </a:pPr>
            <a:r>
              <a:rPr lang="en-US" sz="1600" dirty="0">
                <a:solidFill>
                  <a:schemeClr val="bg2"/>
                </a:solidFill>
              </a:rPr>
              <a:t>2.   CI/CD: push and watch the pipeline</a:t>
            </a:r>
            <a:endParaRPr lang="en-US" sz="1600" dirty="0"/>
          </a:p>
          <a:p>
            <a:pPr indent="0" marL="0">
              <a:spcAft>
                <a:spcPts val="600"/>
              </a:spcAft>
              <a:buNone/>
            </a:pPr>
            <a:r>
              <a:rPr lang="en-US" sz="1600" dirty="0">
                <a:solidFill>
                  <a:schemeClr val="bg2"/>
                </a:solidFill>
              </a:rPr>
              <a:t>3.   Terraform plan and the AWS console</a:t>
            </a:r>
            <a:endParaRPr lang="en-US" sz="1600" dirty="0"/>
          </a:p>
          <a:p>
            <a:pPr indent="0" marL="0">
              <a:spcAft>
                <a:spcPts val="600"/>
              </a:spcAft>
              <a:buNone/>
            </a:pPr>
            <a:r>
              <a:rPr lang="en-US" sz="1600" dirty="0">
                <a:solidFill>
                  <a:schemeClr val="bg2"/>
                </a:solidFill>
              </a:rPr>
              <a:t>4.   Argo CD: synced app and GitOps flow</a:t>
            </a:r>
            <a:endParaRPr lang="en-US" sz="1600" dirty="0"/>
          </a:p>
          <a:p>
            <a:pPr indent="0" marL="0">
              <a:spcAft>
                <a:spcPts val="600"/>
              </a:spcAft>
              <a:buNone/>
            </a:pPr>
            <a:r>
              <a:rPr lang="en-US" sz="1600" dirty="0">
                <a:solidFill>
                  <a:schemeClr val="bg2"/>
                </a:solidFill>
              </a:rPr>
              <a:t>5.   Kubernetes: pods, services, ingress</a:t>
            </a:r>
            <a:endParaRPr lang="en-US" sz="1600" dirty="0"/>
          </a:p>
          <a:p>
            <a:pPr indent="0" marL="0">
              <a:spcAft>
                <a:spcPts val="600"/>
              </a:spcAft>
              <a:buNone/>
            </a:pPr>
            <a:r>
              <a:rPr lang="en-US" sz="1600" dirty="0">
                <a:solidFill>
                  <a:schemeClr val="bg2"/>
                </a:solidFill>
              </a:rPr>
              <a:t>6.   Prometheus targets UP</a:t>
            </a:r>
            <a:endParaRPr lang="en-US" sz="1600" dirty="0"/>
          </a:p>
          <a:p>
            <a:pPr indent="0" marL="0">
              <a:spcAft>
                <a:spcPts val="600"/>
              </a:spcAft>
              <a:buNone/>
            </a:pPr>
            <a:r>
              <a:rPr lang="en-US" sz="1600" dirty="0">
                <a:solidFill>
                  <a:schemeClr val="bg2"/>
                </a:solidFill>
              </a:rPr>
              <a:t>7.   Grafana live dashboard</a:t>
            </a:r>
            <a:endParaRPr lang="en-US" sz="1600" dirty="0"/>
          </a:p>
        </p:txBody>
      </p:sp>
      <p:sp>
        <p:nvSpPr>
          <p:cNvPr id="7" name="Text 4"/>
          <p:cNvSpPr txBox="1"/>
          <p:nvPr/>
        </p:nvSpPr>
        <p:spPr>
          <a:xfrm>
            <a:off x="6949440" y="1828800"/>
            <a:ext cx="4663440" cy="2743200"/>
          </a:xfrm>
          <a:prstGeom prst="rect">
            <a:avLst/>
          </a:prstGeom>
          <a:noFill/>
          <a:ln/>
        </p:spPr>
        <p:txBody>
          <a:bodyPr wrap="square" lIns="0" tIns="0" rIns="0" bIns="0" rtlCol="0" anchor="t"/>
          <a:lstStyle/>
          <a:p>
            <a:pPr indent="0" marL="0">
              <a:buNone/>
            </a:pPr>
            <a:r>
              <a:rPr lang="en-US" sz="1500" b="1" dirty="0">
                <a:solidFill>
                  <a:schemeClr val="bg1"/>
                </a:solidFill>
              </a:rPr>
              <a:t>Repository</a:t>
            </a:r>
            <a:endParaRPr lang="en-US" sz="1500" dirty="0"/>
          </a:p>
          <a:p>
            <a:pPr indent="0" marL="0">
              <a:buNone/>
            </a:pPr>
            <a:r>
              <a:rPr lang="en-US" sz="1500" dirty="0">
                <a:solidFill>
                  <a:schemeClr val="bg2"/>
                </a:solidFill>
              </a:rPr>
              <a:t>github.com/Saptak-cyber/DevOps_Assignments</a:t>
            </a:r>
            <a:endParaRPr lang="en-US" sz="1500" dirty="0"/>
          </a:p>
          <a:p>
            <a:pPr indent="0" marL="0">
              <a:buNone/>
            </a:pPr>
            <a:r>
              <a:rPr lang="en-US" sz="1500" dirty="0">
                <a:solidFill>
                  <a:schemeClr val="bg2"/>
                </a:solidFill>
              </a:rPr>
              <a:t>/tree/main/final-devops-project</a:t>
            </a:r>
            <a:endParaRPr lang="en-US" sz="1500" dirty="0"/>
          </a:p>
          <a:p>
            <a:pPr indent="0" marL="0">
              <a:buNone/>
            </a:pPr>
            <a:r>
              <a:rPr lang="en-US" sz="800" dirty="0">
                <a:solidFill>
                  <a:schemeClr val="bg2"/>
                </a:solidFill>
              </a:rPr>
              <a:t> </a:t>
            </a:r>
            <a:endParaRPr lang="en-US" sz="1500" dirty="0"/>
          </a:p>
          <a:p>
            <a:pPr indent="0" marL="0">
              <a:buNone/>
            </a:pPr>
            <a:r>
              <a:rPr lang="en-US" sz="1500" b="1" dirty="0">
                <a:solidFill>
                  <a:schemeClr val="bg1"/>
                </a:solidFill>
              </a:rPr>
              <a:t>Full technical write-up</a:t>
            </a:r>
            <a:endParaRPr lang="en-US" sz="1500" dirty="0"/>
          </a:p>
          <a:p>
            <a:pPr indent="0" marL="0">
              <a:buNone/>
            </a:pPr>
            <a:r>
              <a:rPr lang="en-US" sz="1500" dirty="0">
                <a:solidFill>
                  <a:schemeClr val="bg2"/>
                </a:solidFill>
              </a:rPr>
              <a:t>final-devops-project/README.md</a:t>
            </a:r>
            <a:endParaRPr lang="en-US" sz="1500" dirty="0"/>
          </a:p>
        </p:txBody>
      </p:sp>
    </p:spTree>
  </p:cSld>
  <p:clrMapOvr>
    <a:masterClrMapping/>
  </p:clrMapOvr>
</p:sld>
</file>

<file path=ppt/theme/theme1.xml><?xml version="1.0" encoding="utf-8"?>
<a:theme xmlns:a="http://schemas.openxmlformats.org/drawingml/2006/main" name="ClinicDesk">
  <a:themeElements>
    <a:clrScheme name="ClinicDesk">
      <a:dk1>
        <a:srgbClr val="17302A"/>
      </a:dk1>
      <a:lt1>
        <a:srgbClr val="FFFFFF"/>
      </a:lt1>
      <a:dk2>
        <a:srgbClr val="2F6B4F"/>
      </a:dk2>
      <a:lt2>
        <a:srgbClr val="EEF4F0"/>
      </a:lt2>
      <a:accent1>
        <a:srgbClr val="2F6B4F"/>
      </a:accent1>
      <a:accent2>
        <a:srgbClr val="C98A2B"/>
      </a:accent2>
      <a:accent3>
        <a:srgbClr val="3B5BA5"/>
      </a:accent3>
      <a:accent4>
        <a:srgbClr val="B4474B"/>
      </a:accent4>
      <a:accent5>
        <a:srgbClr val="6B8F7E"/>
      </a:accent5>
      <a:accent6>
        <a:srgbClr val="7A6AA8"/>
      </a:accent6>
      <a:hlink>
        <a:srgbClr val="2F6B4F"/>
      </a:hlink>
      <a:folHlink>
        <a:srgbClr val="6B8F7E"/>
      </a:folHlink>
    </a:clrScheme>
    <a:fontScheme name="ClinicDe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ClinicDesk DevSecOps Capstone</dc:title>
  <dc:subject>SST DevOps and Cloud, Session 21 final capstone</dc:subject>
  <dc:creator>Saptak Banerjee</dc:creator>
  <cp:lastModifiedBy>Saptak Banerjee</cp:lastModifiedBy>
  <cp:revision>1</cp:revision>
  <dcterms:created xsi:type="dcterms:W3CDTF">2026-10-16T10:30:38Z</dcterms:created>
  <dcterms:modified xsi:type="dcterms:W3CDTF">2026-10-16T10:30:38Z</dcterms:modified>
</cp:coreProperties>
</file>